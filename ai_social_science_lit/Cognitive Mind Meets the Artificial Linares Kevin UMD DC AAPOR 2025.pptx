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4"/>
    <p:sldMasterId id="2147483654" r:id="rId5"/>
    <p:sldMasterId id="2147483659" r:id="rId6"/>
  </p:sldMasterIdLst>
  <p:notesMasterIdLst>
    <p:notesMasterId r:id="rId23"/>
  </p:notesMasterIdLst>
  <p:sldIdLst>
    <p:sldId id="257" r:id="rId7"/>
    <p:sldId id="261" r:id="rId8"/>
    <p:sldId id="258" r:id="rId9"/>
    <p:sldId id="276" r:id="rId10"/>
    <p:sldId id="272" r:id="rId11"/>
    <p:sldId id="262" r:id="rId12"/>
    <p:sldId id="284" r:id="rId13"/>
    <p:sldId id="273" r:id="rId14"/>
    <p:sldId id="278" r:id="rId15"/>
    <p:sldId id="280" r:id="rId16"/>
    <p:sldId id="282" r:id="rId17"/>
    <p:sldId id="286" r:id="rId18"/>
    <p:sldId id="287" r:id="rId19"/>
    <p:sldId id="288" r:id="rId20"/>
    <p:sldId id="285" r:id="rId21"/>
    <p:sldId id="28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5E61247-610E-0F26-2A14-2912AEB9C042}" name="Ratzki-Leewing, Alexandria" initials="RA" userId="S::aratzki-leewing@som.umaryland.edu::78d969f0-029d-4d3a-9c1f-d8d8faff3005" providerId="AD"/>
  <p188:author id="{5329B4C6-B784-1AA7-B27F-AFFD030A5B83}" name="Alex Ratzki-Leewing" initials="ARL" userId="Alex Ratzki-Leewing" providerId="None"/>
  <p188:author id="{3C2786E4-5D0D-8E7C-81DF-E2D4C9582F33}" name="Linares, Kevin" initials="LK" userId="S::klinares@som.umaryland.edu::a6b21ff7-a839-4018-a943-48d3d3604df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45C4"/>
    <a:srgbClr val="8F45C4"/>
    <a:srgbClr val="7030A0"/>
    <a:srgbClr val="00C45F"/>
    <a:srgbClr val="D11919"/>
    <a:srgbClr val="70AD47"/>
    <a:srgbClr val="C22121"/>
    <a:srgbClr val="EB1010"/>
    <a:srgbClr val="A11D1D"/>
    <a:srgbClr val="7D161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E8CE1A-FB97-7A33-BDCD-8882D50D9BD3}" v="59" dt="2025-09-11T23:24:46.005"/>
    <p1510:client id="{FD88F742-1B3E-00CF-BE1C-441AD5D542D1}" v="44" dt="2025-09-13T19:47:04.7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A1E78A8-CEB4-4359-B7AF-E79C2EEB48CA}" type="doc">
      <dgm:prSet loTypeId="urn:microsoft.com/office/officeart/2005/8/layout/hProcess4" loCatId="process" qsTypeId="urn:microsoft.com/office/officeart/2005/8/quickstyle/3d2" qsCatId="3D" csTypeId="urn:microsoft.com/office/officeart/2005/8/colors/accent1_2" csCatId="accent1" phldr="1"/>
      <dgm:spPr/>
      <dgm:t>
        <a:bodyPr/>
        <a:lstStyle/>
        <a:p>
          <a:endParaRPr lang="en-US"/>
        </a:p>
      </dgm:t>
    </dgm:pt>
    <dgm:pt modelId="{5CF78396-6031-4669-BB58-285565768033}">
      <dgm:prSet phldrT="[Text]" phldr="0"/>
      <dgm:spPr/>
      <dgm:t>
        <a:bodyPr/>
        <a:lstStyle/>
        <a:p>
          <a:r>
            <a:rPr lang="en-US"/>
            <a:t>Hybrid Design</a:t>
          </a:r>
        </a:p>
      </dgm:t>
    </dgm:pt>
    <dgm:pt modelId="{81030D8B-9033-473E-AE11-E3EB715BA93A}" type="parTrans" cxnId="{43A391A6-0AA2-4F91-8F02-27E2094A8817}">
      <dgm:prSet/>
      <dgm:spPr/>
      <dgm:t>
        <a:bodyPr/>
        <a:lstStyle/>
        <a:p>
          <a:endParaRPr lang="en-US"/>
        </a:p>
      </dgm:t>
    </dgm:pt>
    <dgm:pt modelId="{EB591E45-338E-4F41-BA19-3C5EEDBB5FFC}" type="sibTrans" cxnId="{43A391A6-0AA2-4F91-8F02-27E2094A8817}">
      <dgm:prSet/>
      <dgm:spPr/>
      <dgm:t>
        <a:bodyPr/>
        <a:lstStyle/>
        <a:p>
          <a:endParaRPr lang="en-US"/>
        </a:p>
      </dgm:t>
    </dgm:pt>
    <dgm:pt modelId="{33E6EEDD-92B5-4B7A-8E99-59EFCA5C0929}">
      <dgm:prSet phldrT="[Text]" phldr="0"/>
      <dgm:spPr/>
      <dgm:t>
        <a:bodyPr/>
        <a:lstStyle/>
        <a:p>
          <a:pPr rtl="0"/>
          <a:r>
            <a:rPr lang="en-US"/>
            <a:t>Validation Studies</a:t>
          </a:r>
        </a:p>
      </dgm:t>
    </dgm:pt>
    <dgm:pt modelId="{F9B4180C-83C4-475A-BBBD-20E6CBF2224D}" type="parTrans" cxnId="{760A0A29-CEC1-49BF-8917-79A04F92E98E}">
      <dgm:prSet/>
      <dgm:spPr/>
      <dgm:t>
        <a:bodyPr/>
        <a:lstStyle/>
        <a:p>
          <a:endParaRPr lang="en-US"/>
        </a:p>
      </dgm:t>
    </dgm:pt>
    <dgm:pt modelId="{926DC5FF-6855-48FC-82F1-9F7EFFA1353B}" type="sibTrans" cxnId="{760A0A29-CEC1-49BF-8917-79A04F92E98E}">
      <dgm:prSet/>
      <dgm:spPr/>
      <dgm:t>
        <a:bodyPr/>
        <a:lstStyle/>
        <a:p>
          <a:endParaRPr lang="en-US"/>
        </a:p>
      </dgm:t>
    </dgm:pt>
    <dgm:pt modelId="{A15AFB17-174E-49B8-B574-836D91F3A7FE}">
      <dgm:prSet phldr="0"/>
      <dgm:spPr/>
      <dgm:t>
        <a:bodyPr/>
        <a:lstStyle/>
        <a:p>
          <a:pPr rtl="0"/>
          <a:r>
            <a:rPr lang="en-US"/>
            <a:t>Combine standardized core items with AI-enhanced modules</a:t>
          </a:r>
        </a:p>
      </dgm:t>
    </dgm:pt>
    <dgm:pt modelId="{9721DDE7-3F1C-414F-816B-EE39CA1D48DD}" type="parTrans" cxnId="{D8004439-D8AB-4DC6-B895-FF96412144F4}">
      <dgm:prSet/>
      <dgm:spPr/>
      <dgm:t>
        <a:bodyPr/>
        <a:lstStyle/>
        <a:p>
          <a:endParaRPr lang="en-US"/>
        </a:p>
      </dgm:t>
    </dgm:pt>
    <dgm:pt modelId="{37E086FC-8B82-43DC-93AE-2078DB3EA451}" type="sibTrans" cxnId="{D8004439-D8AB-4DC6-B895-FF96412144F4}">
      <dgm:prSet/>
      <dgm:spPr/>
      <dgm:t>
        <a:bodyPr/>
        <a:lstStyle/>
        <a:p>
          <a:endParaRPr lang="en-US"/>
        </a:p>
      </dgm:t>
    </dgm:pt>
    <dgm:pt modelId="{41EE360E-A22F-46D4-BE63-902FE6827AF3}">
      <dgm:prSet phldr="0"/>
      <dgm:spPr/>
      <dgm:t>
        <a:bodyPr/>
        <a:lstStyle/>
        <a:p>
          <a:pPr rtl="0"/>
          <a:r>
            <a:rPr lang="en-US"/>
            <a:t>Parallel testing protocols comparing traditional and LLM-PROMs</a:t>
          </a:r>
        </a:p>
      </dgm:t>
    </dgm:pt>
    <dgm:pt modelId="{7F47B908-7A72-4166-B937-02F3AC38C2FA}" type="parTrans" cxnId="{E3BEAEEF-528C-4978-8461-F0DBC039527D}">
      <dgm:prSet/>
      <dgm:spPr/>
      <dgm:t>
        <a:bodyPr/>
        <a:lstStyle/>
        <a:p>
          <a:endParaRPr lang="en-US"/>
        </a:p>
      </dgm:t>
    </dgm:pt>
    <dgm:pt modelId="{B6C6428B-15FA-4884-A52F-42E27B52978C}" type="sibTrans" cxnId="{E3BEAEEF-528C-4978-8461-F0DBC039527D}">
      <dgm:prSet/>
      <dgm:spPr/>
      <dgm:t>
        <a:bodyPr/>
        <a:lstStyle/>
        <a:p>
          <a:endParaRPr lang="en-US"/>
        </a:p>
      </dgm:t>
    </dgm:pt>
    <dgm:pt modelId="{FCF8C6D2-C214-406F-A84A-1F30219C809B}">
      <dgm:prSet phldr="0"/>
      <dgm:spPr/>
      <dgm:t>
        <a:bodyPr/>
        <a:lstStyle/>
        <a:p>
          <a:pPr rtl="0"/>
          <a:r>
            <a:rPr lang="en-US"/>
            <a:t>Theoretical Extension</a:t>
          </a:r>
        </a:p>
      </dgm:t>
    </dgm:pt>
    <dgm:pt modelId="{172790F8-48CF-49EA-BEB0-238C5A7D9CB8}" type="parTrans" cxnId="{C0350DFA-99F0-4CD2-A98F-D463CAD618EE}">
      <dgm:prSet/>
      <dgm:spPr/>
      <dgm:t>
        <a:bodyPr/>
        <a:lstStyle/>
        <a:p>
          <a:endParaRPr lang="en-US"/>
        </a:p>
      </dgm:t>
    </dgm:pt>
    <dgm:pt modelId="{32E4C0ED-F9FB-44EB-B013-FF6D39477AA5}" type="sibTrans" cxnId="{C0350DFA-99F0-4CD2-A98F-D463CAD618EE}">
      <dgm:prSet/>
      <dgm:spPr/>
      <dgm:t>
        <a:bodyPr/>
        <a:lstStyle/>
        <a:p>
          <a:endParaRPr lang="en-US"/>
        </a:p>
      </dgm:t>
    </dgm:pt>
    <dgm:pt modelId="{603656E7-6769-497C-9235-E16EE5C50920}">
      <dgm:prSet phldr="0"/>
      <dgm:spPr/>
      <dgm:t>
        <a:bodyPr/>
        <a:lstStyle/>
        <a:p>
          <a:pPr rtl="0"/>
          <a:r>
            <a:rPr lang="en-US"/>
            <a:t>Develop distributed cognition models for human-AI measurement systems</a:t>
          </a:r>
        </a:p>
      </dgm:t>
    </dgm:pt>
    <dgm:pt modelId="{8CE916EB-1C39-43FA-BFC1-746ED1DDA984}" type="parTrans" cxnId="{07A10D71-C17C-448B-B082-1EF25CD83A7F}">
      <dgm:prSet/>
      <dgm:spPr/>
      <dgm:t>
        <a:bodyPr/>
        <a:lstStyle/>
        <a:p>
          <a:endParaRPr lang="en-US"/>
        </a:p>
      </dgm:t>
    </dgm:pt>
    <dgm:pt modelId="{3B3D4714-39A3-4A22-8C35-BDF50DA5CEAB}" type="sibTrans" cxnId="{07A10D71-C17C-448B-B082-1EF25CD83A7F}">
      <dgm:prSet/>
      <dgm:spPr/>
      <dgm:t>
        <a:bodyPr/>
        <a:lstStyle/>
        <a:p>
          <a:endParaRPr lang="en-US"/>
        </a:p>
      </dgm:t>
    </dgm:pt>
    <dgm:pt modelId="{CEEF2561-6037-4004-874D-64F14196BA98}" type="pres">
      <dgm:prSet presAssocID="{4A1E78A8-CEB4-4359-B7AF-E79C2EEB48CA}" presName="Name0" presStyleCnt="0">
        <dgm:presLayoutVars>
          <dgm:dir/>
          <dgm:animLvl val="lvl"/>
          <dgm:resizeHandles val="exact"/>
        </dgm:presLayoutVars>
      </dgm:prSet>
      <dgm:spPr/>
    </dgm:pt>
    <dgm:pt modelId="{1F32DB57-9BFB-4B9E-8C75-61402490F882}" type="pres">
      <dgm:prSet presAssocID="{4A1E78A8-CEB4-4359-B7AF-E79C2EEB48CA}" presName="tSp" presStyleCnt="0"/>
      <dgm:spPr/>
    </dgm:pt>
    <dgm:pt modelId="{1C06B506-7BDE-4ECA-A578-69D8B02E8AE8}" type="pres">
      <dgm:prSet presAssocID="{4A1E78A8-CEB4-4359-B7AF-E79C2EEB48CA}" presName="bSp" presStyleCnt="0"/>
      <dgm:spPr/>
    </dgm:pt>
    <dgm:pt modelId="{8185EB28-ACCB-4EC0-B03C-0389902D2745}" type="pres">
      <dgm:prSet presAssocID="{4A1E78A8-CEB4-4359-B7AF-E79C2EEB48CA}" presName="process" presStyleCnt="0"/>
      <dgm:spPr/>
    </dgm:pt>
    <dgm:pt modelId="{FE2175B2-4F1D-4927-8546-4238A5E24D22}" type="pres">
      <dgm:prSet presAssocID="{FCF8C6D2-C214-406F-A84A-1F30219C809B}" presName="composite1" presStyleCnt="0"/>
      <dgm:spPr/>
    </dgm:pt>
    <dgm:pt modelId="{35074DA7-5CF3-4718-A797-BD581EEE69B1}" type="pres">
      <dgm:prSet presAssocID="{FCF8C6D2-C214-406F-A84A-1F30219C809B}" presName="dummyNode1" presStyleLbl="node1" presStyleIdx="0" presStyleCnt="3"/>
      <dgm:spPr/>
    </dgm:pt>
    <dgm:pt modelId="{2F781F01-EB0C-4B6D-8DC6-A30C7273F814}" type="pres">
      <dgm:prSet presAssocID="{FCF8C6D2-C214-406F-A84A-1F30219C809B}" presName="childNode1" presStyleLbl="bgAcc1" presStyleIdx="0" presStyleCnt="3">
        <dgm:presLayoutVars>
          <dgm:bulletEnabled val="1"/>
        </dgm:presLayoutVars>
      </dgm:prSet>
      <dgm:spPr/>
    </dgm:pt>
    <dgm:pt modelId="{1B6E3F96-ED72-4735-A645-979B18EF5E39}" type="pres">
      <dgm:prSet presAssocID="{FCF8C6D2-C214-406F-A84A-1F30219C809B}" presName="childNode1tx" presStyleLbl="bgAcc1" presStyleIdx="0" presStyleCnt="3">
        <dgm:presLayoutVars>
          <dgm:bulletEnabled val="1"/>
        </dgm:presLayoutVars>
      </dgm:prSet>
      <dgm:spPr/>
    </dgm:pt>
    <dgm:pt modelId="{CDF14A4F-00C5-478C-96A4-C15DA3600E0F}" type="pres">
      <dgm:prSet presAssocID="{FCF8C6D2-C214-406F-A84A-1F30219C809B}" presName="parentNode1" presStyleLbl="node1" presStyleIdx="0" presStyleCnt="3">
        <dgm:presLayoutVars>
          <dgm:chMax val="1"/>
          <dgm:bulletEnabled val="1"/>
        </dgm:presLayoutVars>
      </dgm:prSet>
      <dgm:spPr/>
    </dgm:pt>
    <dgm:pt modelId="{43DB164A-6C40-46A4-BF13-13557B87BD7A}" type="pres">
      <dgm:prSet presAssocID="{FCF8C6D2-C214-406F-A84A-1F30219C809B}" presName="connSite1" presStyleCnt="0"/>
      <dgm:spPr/>
    </dgm:pt>
    <dgm:pt modelId="{B08F89C3-D25B-446F-BE71-EDD968358DF0}" type="pres">
      <dgm:prSet presAssocID="{32E4C0ED-F9FB-44EB-B013-FF6D39477AA5}" presName="Name9" presStyleLbl="sibTrans2D1" presStyleIdx="0" presStyleCnt="2"/>
      <dgm:spPr/>
    </dgm:pt>
    <dgm:pt modelId="{AA2A36B9-EBBF-4181-B773-99E6F199008B}" type="pres">
      <dgm:prSet presAssocID="{5CF78396-6031-4669-BB58-285565768033}" presName="composite2" presStyleCnt="0"/>
      <dgm:spPr/>
    </dgm:pt>
    <dgm:pt modelId="{1F9F4B86-C53D-4366-9D08-DEBC4F604F17}" type="pres">
      <dgm:prSet presAssocID="{5CF78396-6031-4669-BB58-285565768033}" presName="dummyNode2" presStyleLbl="node1" presStyleIdx="0" presStyleCnt="3"/>
      <dgm:spPr/>
    </dgm:pt>
    <dgm:pt modelId="{E3C9D7F5-E001-4ADC-A5EC-3077AF59F1D5}" type="pres">
      <dgm:prSet presAssocID="{5CF78396-6031-4669-BB58-285565768033}" presName="childNode2" presStyleLbl="bgAcc1" presStyleIdx="1" presStyleCnt="3">
        <dgm:presLayoutVars>
          <dgm:bulletEnabled val="1"/>
        </dgm:presLayoutVars>
      </dgm:prSet>
      <dgm:spPr/>
    </dgm:pt>
    <dgm:pt modelId="{AF3EBC40-5942-4097-8E65-946507B16797}" type="pres">
      <dgm:prSet presAssocID="{5CF78396-6031-4669-BB58-285565768033}" presName="childNode2tx" presStyleLbl="bgAcc1" presStyleIdx="1" presStyleCnt="3">
        <dgm:presLayoutVars>
          <dgm:bulletEnabled val="1"/>
        </dgm:presLayoutVars>
      </dgm:prSet>
      <dgm:spPr/>
    </dgm:pt>
    <dgm:pt modelId="{FB9AD6C3-C2C5-4929-B4EE-1FE17651D659}" type="pres">
      <dgm:prSet presAssocID="{5CF78396-6031-4669-BB58-285565768033}" presName="parentNode2" presStyleLbl="node1" presStyleIdx="1" presStyleCnt="3">
        <dgm:presLayoutVars>
          <dgm:chMax val="0"/>
          <dgm:bulletEnabled val="1"/>
        </dgm:presLayoutVars>
      </dgm:prSet>
      <dgm:spPr/>
    </dgm:pt>
    <dgm:pt modelId="{18294473-46F2-4827-9AF4-C8D4F0013B73}" type="pres">
      <dgm:prSet presAssocID="{5CF78396-6031-4669-BB58-285565768033}" presName="connSite2" presStyleCnt="0"/>
      <dgm:spPr/>
    </dgm:pt>
    <dgm:pt modelId="{3B875AF8-9E21-4145-ADE3-CB4668F2CAD4}" type="pres">
      <dgm:prSet presAssocID="{EB591E45-338E-4F41-BA19-3C5EEDBB5FFC}" presName="Name18" presStyleLbl="sibTrans2D1" presStyleIdx="1" presStyleCnt="2"/>
      <dgm:spPr/>
    </dgm:pt>
    <dgm:pt modelId="{25D13F09-73CD-412A-A588-D1950CBDC672}" type="pres">
      <dgm:prSet presAssocID="{33E6EEDD-92B5-4B7A-8E99-59EFCA5C0929}" presName="composite1" presStyleCnt="0"/>
      <dgm:spPr/>
    </dgm:pt>
    <dgm:pt modelId="{E4FA1C95-21E5-4DA6-BDFE-AFFBB5AC511A}" type="pres">
      <dgm:prSet presAssocID="{33E6EEDD-92B5-4B7A-8E99-59EFCA5C0929}" presName="dummyNode1" presStyleLbl="node1" presStyleIdx="1" presStyleCnt="3"/>
      <dgm:spPr/>
    </dgm:pt>
    <dgm:pt modelId="{08958AA8-A4FE-4ED1-B70A-6B07F495748B}" type="pres">
      <dgm:prSet presAssocID="{33E6EEDD-92B5-4B7A-8E99-59EFCA5C0929}" presName="childNode1" presStyleLbl="bgAcc1" presStyleIdx="2" presStyleCnt="3">
        <dgm:presLayoutVars>
          <dgm:bulletEnabled val="1"/>
        </dgm:presLayoutVars>
      </dgm:prSet>
      <dgm:spPr/>
    </dgm:pt>
    <dgm:pt modelId="{5E79DA74-7854-452B-860C-EED6EAAE59D5}" type="pres">
      <dgm:prSet presAssocID="{33E6EEDD-92B5-4B7A-8E99-59EFCA5C0929}" presName="childNode1tx" presStyleLbl="bgAcc1" presStyleIdx="2" presStyleCnt="3">
        <dgm:presLayoutVars>
          <dgm:bulletEnabled val="1"/>
        </dgm:presLayoutVars>
      </dgm:prSet>
      <dgm:spPr/>
    </dgm:pt>
    <dgm:pt modelId="{FC6C3B7B-F03A-4D3C-AD5D-D42A1B314642}" type="pres">
      <dgm:prSet presAssocID="{33E6EEDD-92B5-4B7A-8E99-59EFCA5C0929}" presName="parentNode1" presStyleLbl="node1" presStyleIdx="2" presStyleCnt="3">
        <dgm:presLayoutVars>
          <dgm:chMax val="1"/>
          <dgm:bulletEnabled val="1"/>
        </dgm:presLayoutVars>
      </dgm:prSet>
      <dgm:spPr/>
    </dgm:pt>
    <dgm:pt modelId="{1EA12FA1-0CB9-418F-AC67-4B677683E0FD}" type="pres">
      <dgm:prSet presAssocID="{33E6EEDD-92B5-4B7A-8E99-59EFCA5C0929}" presName="connSite1" presStyleCnt="0"/>
      <dgm:spPr/>
    </dgm:pt>
  </dgm:ptLst>
  <dgm:cxnLst>
    <dgm:cxn modelId="{422E3D09-5151-4759-9C50-BEC1FA4C30AF}" type="presOf" srcId="{A15AFB17-174E-49B8-B574-836D91F3A7FE}" destId="{AF3EBC40-5942-4097-8E65-946507B16797}" srcOrd="1" destOrd="0" presId="urn:microsoft.com/office/officeart/2005/8/layout/hProcess4"/>
    <dgm:cxn modelId="{760A0A29-CEC1-49BF-8917-79A04F92E98E}" srcId="{4A1E78A8-CEB4-4359-B7AF-E79C2EEB48CA}" destId="{33E6EEDD-92B5-4B7A-8E99-59EFCA5C0929}" srcOrd="2" destOrd="0" parTransId="{F9B4180C-83C4-475A-BBBD-20E6CBF2224D}" sibTransId="{926DC5FF-6855-48FC-82F1-9F7EFFA1353B}"/>
    <dgm:cxn modelId="{D8004439-D8AB-4DC6-B895-FF96412144F4}" srcId="{5CF78396-6031-4669-BB58-285565768033}" destId="{A15AFB17-174E-49B8-B574-836D91F3A7FE}" srcOrd="0" destOrd="0" parTransId="{9721DDE7-3F1C-414F-816B-EE39CA1D48DD}" sibTransId="{37E086FC-8B82-43DC-93AE-2078DB3EA451}"/>
    <dgm:cxn modelId="{CECDD339-6BB2-476A-A81E-E387D14158C2}" type="presOf" srcId="{33E6EEDD-92B5-4B7A-8E99-59EFCA5C0929}" destId="{FC6C3B7B-F03A-4D3C-AD5D-D42A1B314642}" srcOrd="0" destOrd="0" presId="urn:microsoft.com/office/officeart/2005/8/layout/hProcess4"/>
    <dgm:cxn modelId="{B3355165-7FF3-413D-B703-A2D2DFD9B0EA}" type="presOf" srcId="{32E4C0ED-F9FB-44EB-B013-FF6D39477AA5}" destId="{B08F89C3-D25B-446F-BE71-EDD968358DF0}" srcOrd="0" destOrd="0" presId="urn:microsoft.com/office/officeart/2005/8/layout/hProcess4"/>
    <dgm:cxn modelId="{531EE667-BF3D-41A0-A451-A028BB88E0D5}" type="presOf" srcId="{603656E7-6769-497C-9235-E16EE5C50920}" destId="{1B6E3F96-ED72-4735-A645-979B18EF5E39}" srcOrd="1" destOrd="0" presId="urn:microsoft.com/office/officeart/2005/8/layout/hProcess4"/>
    <dgm:cxn modelId="{07A10D71-C17C-448B-B082-1EF25CD83A7F}" srcId="{FCF8C6D2-C214-406F-A84A-1F30219C809B}" destId="{603656E7-6769-497C-9235-E16EE5C50920}" srcOrd="0" destOrd="0" parTransId="{8CE916EB-1C39-43FA-BFC1-746ED1DDA984}" sibTransId="{3B3D4714-39A3-4A22-8C35-BDF50DA5CEAB}"/>
    <dgm:cxn modelId="{589CFB85-C3CD-4530-898A-3BFB7BB47536}" type="presOf" srcId="{FCF8C6D2-C214-406F-A84A-1F30219C809B}" destId="{CDF14A4F-00C5-478C-96A4-C15DA3600E0F}" srcOrd="0" destOrd="0" presId="urn:microsoft.com/office/officeart/2005/8/layout/hProcess4"/>
    <dgm:cxn modelId="{8A5BC68E-17D0-41EA-94B0-41776334C59D}" type="presOf" srcId="{41EE360E-A22F-46D4-BE63-902FE6827AF3}" destId="{5E79DA74-7854-452B-860C-EED6EAAE59D5}" srcOrd="1" destOrd="0" presId="urn:microsoft.com/office/officeart/2005/8/layout/hProcess4"/>
    <dgm:cxn modelId="{461C0CA5-31C2-48EE-BA06-A7D80F39AC68}" type="presOf" srcId="{41EE360E-A22F-46D4-BE63-902FE6827AF3}" destId="{08958AA8-A4FE-4ED1-B70A-6B07F495748B}" srcOrd="0" destOrd="0" presId="urn:microsoft.com/office/officeart/2005/8/layout/hProcess4"/>
    <dgm:cxn modelId="{43A391A6-0AA2-4F91-8F02-27E2094A8817}" srcId="{4A1E78A8-CEB4-4359-B7AF-E79C2EEB48CA}" destId="{5CF78396-6031-4669-BB58-285565768033}" srcOrd="1" destOrd="0" parTransId="{81030D8B-9033-473E-AE11-E3EB715BA93A}" sibTransId="{EB591E45-338E-4F41-BA19-3C5EEDBB5FFC}"/>
    <dgm:cxn modelId="{B6B19AB0-525A-41F5-8D04-4434762CB3AA}" type="presOf" srcId="{603656E7-6769-497C-9235-E16EE5C50920}" destId="{2F781F01-EB0C-4B6D-8DC6-A30C7273F814}" srcOrd="0" destOrd="0" presId="urn:microsoft.com/office/officeart/2005/8/layout/hProcess4"/>
    <dgm:cxn modelId="{554838BA-ADC1-4522-ADCC-3744188B9ADC}" type="presOf" srcId="{EB591E45-338E-4F41-BA19-3C5EEDBB5FFC}" destId="{3B875AF8-9E21-4145-ADE3-CB4668F2CAD4}" srcOrd="0" destOrd="0" presId="urn:microsoft.com/office/officeart/2005/8/layout/hProcess4"/>
    <dgm:cxn modelId="{A6C05EC8-F767-4571-AE6D-FE7BD21CB9AB}" type="presOf" srcId="{5CF78396-6031-4669-BB58-285565768033}" destId="{FB9AD6C3-C2C5-4929-B4EE-1FE17651D659}" srcOrd="0" destOrd="0" presId="urn:microsoft.com/office/officeart/2005/8/layout/hProcess4"/>
    <dgm:cxn modelId="{83AA9FDB-CAA3-4DDA-9BAB-52A461750AA5}" type="presOf" srcId="{A15AFB17-174E-49B8-B574-836D91F3A7FE}" destId="{E3C9D7F5-E001-4ADC-A5EC-3077AF59F1D5}" srcOrd="0" destOrd="0" presId="urn:microsoft.com/office/officeart/2005/8/layout/hProcess4"/>
    <dgm:cxn modelId="{E3BEAEEF-528C-4978-8461-F0DBC039527D}" srcId="{33E6EEDD-92B5-4B7A-8E99-59EFCA5C0929}" destId="{41EE360E-A22F-46D4-BE63-902FE6827AF3}" srcOrd="0" destOrd="0" parTransId="{7F47B908-7A72-4166-B937-02F3AC38C2FA}" sibTransId="{B6C6428B-15FA-4884-A52F-42E27B52978C}"/>
    <dgm:cxn modelId="{0C29DEEF-5717-4963-80B8-176F119697E0}" type="presOf" srcId="{4A1E78A8-CEB4-4359-B7AF-E79C2EEB48CA}" destId="{CEEF2561-6037-4004-874D-64F14196BA98}" srcOrd="0" destOrd="0" presId="urn:microsoft.com/office/officeart/2005/8/layout/hProcess4"/>
    <dgm:cxn modelId="{C0350DFA-99F0-4CD2-A98F-D463CAD618EE}" srcId="{4A1E78A8-CEB4-4359-B7AF-E79C2EEB48CA}" destId="{FCF8C6D2-C214-406F-A84A-1F30219C809B}" srcOrd="0" destOrd="0" parTransId="{172790F8-48CF-49EA-BEB0-238C5A7D9CB8}" sibTransId="{32E4C0ED-F9FB-44EB-B013-FF6D39477AA5}"/>
    <dgm:cxn modelId="{6B368FC0-3043-44CA-B00F-9E3CBFEB2C18}" type="presParOf" srcId="{CEEF2561-6037-4004-874D-64F14196BA98}" destId="{1F32DB57-9BFB-4B9E-8C75-61402490F882}" srcOrd="0" destOrd="0" presId="urn:microsoft.com/office/officeart/2005/8/layout/hProcess4"/>
    <dgm:cxn modelId="{AECD5840-DD54-4198-A8EB-FE2E00B765DD}" type="presParOf" srcId="{CEEF2561-6037-4004-874D-64F14196BA98}" destId="{1C06B506-7BDE-4ECA-A578-69D8B02E8AE8}" srcOrd="1" destOrd="0" presId="urn:microsoft.com/office/officeart/2005/8/layout/hProcess4"/>
    <dgm:cxn modelId="{AE2AFFFD-DF88-4195-9539-99BAB43F282E}" type="presParOf" srcId="{CEEF2561-6037-4004-874D-64F14196BA98}" destId="{8185EB28-ACCB-4EC0-B03C-0389902D2745}" srcOrd="2" destOrd="0" presId="urn:microsoft.com/office/officeart/2005/8/layout/hProcess4"/>
    <dgm:cxn modelId="{E9F66C8F-029F-44FA-898C-635C2F8AB98F}" type="presParOf" srcId="{8185EB28-ACCB-4EC0-B03C-0389902D2745}" destId="{FE2175B2-4F1D-4927-8546-4238A5E24D22}" srcOrd="0" destOrd="0" presId="urn:microsoft.com/office/officeart/2005/8/layout/hProcess4"/>
    <dgm:cxn modelId="{AAD40854-59AB-49EF-BC50-F22E6B222452}" type="presParOf" srcId="{FE2175B2-4F1D-4927-8546-4238A5E24D22}" destId="{35074DA7-5CF3-4718-A797-BD581EEE69B1}" srcOrd="0" destOrd="0" presId="urn:microsoft.com/office/officeart/2005/8/layout/hProcess4"/>
    <dgm:cxn modelId="{46BB68B2-DE31-403A-B54F-D959DCB25C77}" type="presParOf" srcId="{FE2175B2-4F1D-4927-8546-4238A5E24D22}" destId="{2F781F01-EB0C-4B6D-8DC6-A30C7273F814}" srcOrd="1" destOrd="0" presId="urn:microsoft.com/office/officeart/2005/8/layout/hProcess4"/>
    <dgm:cxn modelId="{FA05EF5A-E7C5-45A6-B741-F9D6A8FBCB88}" type="presParOf" srcId="{FE2175B2-4F1D-4927-8546-4238A5E24D22}" destId="{1B6E3F96-ED72-4735-A645-979B18EF5E39}" srcOrd="2" destOrd="0" presId="urn:microsoft.com/office/officeart/2005/8/layout/hProcess4"/>
    <dgm:cxn modelId="{DA923E10-794C-456E-AC66-2AFB58F06B86}" type="presParOf" srcId="{FE2175B2-4F1D-4927-8546-4238A5E24D22}" destId="{CDF14A4F-00C5-478C-96A4-C15DA3600E0F}" srcOrd="3" destOrd="0" presId="urn:microsoft.com/office/officeart/2005/8/layout/hProcess4"/>
    <dgm:cxn modelId="{6EF8B1DC-DD94-43D6-912D-11202B3E3DFE}" type="presParOf" srcId="{FE2175B2-4F1D-4927-8546-4238A5E24D22}" destId="{43DB164A-6C40-46A4-BF13-13557B87BD7A}" srcOrd="4" destOrd="0" presId="urn:microsoft.com/office/officeart/2005/8/layout/hProcess4"/>
    <dgm:cxn modelId="{5AC51ECF-3DC2-45FC-895B-00ADC79FACC6}" type="presParOf" srcId="{8185EB28-ACCB-4EC0-B03C-0389902D2745}" destId="{B08F89C3-D25B-446F-BE71-EDD968358DF0}" srcOrd="1" destOrd="0" presId="urn:microsoft.com/office/officeart/2005/8/layout/hProcess4"/>
    <dgm:cxn modelId="{903CD0B2-B599-4790-ACB8-524268A2E7EC}" type="presParOf" srcId="{8185EB28-ACCB-4EC0-B03C-0389902D2745}" destId="{AA2A36B9-EBBF-4181-B773-99E6F199008B}" srcOrd="2" destOrd="0" presId="urn:microsoft.com/office/officeart/2005/8/layout/hProcess4"/>
    <dgm:cxn modelId="{47BE46A7-ADAE-42E9-B5CB-EB0762486176}" type="presParOf" srcId="{AA2A36B9-EBBF-4181-B773-99E6F199008B}" destId="{1F9F4B86-C53D-4366-9D08-DEBC4F604F17}" srcOrd="0" destOrd="0" presId="urn:microsoft.com/office/officeart/2005/8/layout/hProcess4"/>
    <dgm:cxn modelId="{2625F8BC-5A3F-4166-B276-DE210AA7A5E0}" type="presParOf" srcId="{AA2A36B9-EBBF-4181-B773-99E6F199008B}" destId="{E3C9D7F5-E001-4ADC-A5EC-3077AF59F1D5}" srcOrd="1" destOrd="0" presId="urn:microsoft.com/office/officeart/2005/8/layout/hProcess4"/>
    <dgm:cxn modelId="{E0FC0FF0-3BB7-401A-8CE5-A4AADC31EBD8}" type="presParOf" srcId="{AA2A36B9-EBBF-4181-B773-99E6F199008B}" destId="{AF3EBC40-5942-4097-8E65-946507B16797}" srcOrd="2" destOrd="0" presId="urn:microsoft.com/office/officeart/2005/8/layout/hProcess4"/>
    <dgm:cxn modelId="{0C32A2FB-F691-4AC1-8818-520E8811405C}" type="presParOf" srcId="{AA2A36B9-EBBF-4181-B773-99E6F199008B}" destId="{FB9AD6C3-C2C5-4929-B4EE-1FE17651D659}" srcOrd="3" destOrd="0" presId="urn:microsoft.com/office/officeart/2005/8/layout/hProcess4"/>
    <dgm:cxn modelId="{E98D6A35-7BB7-491C-AA4D-C9167A0D1C06}" type="presParOf" srcId="{AA2A36B9-EBBF-4181-B773-99E6F199008B}" destId="{18294473-46F2-4827-9AF4-C8D4F0013B73}" srcOrd="4" destOrd="0" presId="urn:microsoft.com/office/officeart/2005/8/layout/hProcess4"/>
    <dgm:cxn modelId="{AFE2C734-947F-4590-805F-507C19D9D132}" type="presParOf" srcId="{8185EB28-ACCB-4EC0-B03C-0389902D2745}" destId="{3B875AF8-9E21-4145-ADE3-CB4668F2CAD4}" srcOrd="3" destOrd="0" presId="urn:microsoft.com/office/officeart/2005/8/layout/hProcess4"/>
    <dgm:cxn modelId="{458BB5DA-5394-4A2C-9C5C-1CB82DC8D3DC}" type="presParOf" srcId="{8185EB28-ACCB-4EC0-B03C-0389902D2745}" destId="{25D13F09-73CD-412A-A588-D1950CBDC672}" srcOrd="4" destOrd="0" presId="urn:microsoft.com/office/officeart/2005/8/layout/hProcess4"/>
    <dgm:cxn modelId="{1DC3681F-91D9-4E75-8952-8DD4AFA42B44}" type="presParOf" srcId="{25D13F09-73CD-412A-A588-D1950CBDC672}" destId="{E4FA1C95-21E5-4DA6-BDFE-AFFBB5AC511A}" srcOrd="0" destOrd="0" presId="urn:microsoft.com/office/officeart/2005/8/layout/hProcess4"/>
    <dgm:cxn modelId="{E5C6A697-CE93-4AAD-831A-559987A5191D}" type="presParOf" srcId="{25D13F09-73CD-412A-A588-D1950CBDC672}" destId="{08958AA8-A4FE-4ED1-B70A-6B07F495748B}" srcOrd="1" destOrd="0" presId="urn:microsoft.com/office/officeart/2005/8/layout/hProcess4"/>
    <dgm:cxn modelId="{0E4B2A0C-A2DD-44CB-B462-BFB76A15E309}" type="presParOf" srcId="{25D13F09-73CD-412A-A588-D1950CBDC672}" destId="{5E79DA74-7854-452B-860C-EED6EAAE59D5}" srcOrd="2" destOrd="0" presId="urn:microsoft.com/office/officeart/2005/8/layout/hProcess4"/>
    <dgm:cxn modelId="{4683F6DC-F71C-4451-8105-7D8E1309D49A}" type="presParOf" srcId="{25D13F09-73CD-412A-A588-D1950CBDC672}" destId="{FC6C3B7B-F03A-4D3C-AD5D-D42A1B314642}" srcOrd="3" destOrd="0" presId="urn:microsoft.com/office/officeart/2005/8/layout/hProcess4"/>
    <dgm:cxn modelId="{5918DE8C-FF6B-4AB4-9FD8-DAC14F9E6B08}" type="presParOf" srcId="{25D13F09-73CD-412A-A588-D1950CBDC672}" destId="{1EA12FA1-0CB9-418F-AC67-4B677683E0FD}" srcOrd="4" destOrd="0" presId="urn:microsoft.com/office/officeart/2005/8/layout/h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781F01-EB0C-4B6D-8DC6-A30C7273F814}">
      <dsp:nvSpPr>
        <dsp:cNvPr id="0" name=""/>
        <dsp:cNvSpPr/>
      </dsp:nvSpPr>
      <dsp:spPr>
        <a:xfrm>
          <a:off x="348053" y="1153799"/>
          <a:ext cx="2688081" cy="2217104"/>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4450" h="1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t" anchorCtr="0">
          <a:noAutofit/>
        </a:bodyPr>
        <a:lstStyle/>
        <a:p>
          <a:pPr marL="228600" lvl="1" indent="-228600" algn="l" defTabSz="977900" rtl="0">
            <a:lnSpc>
              <a:spcPct val="90000"/>
            </a:lnSpc>
            <a:spcBef>
              <a:spcPct val="0"/>
            </a:spcBef>
            <a:spcAft>
              <a:spcPct val="15000"/>
            </a:spcAft>
            <a:buChar char="•"/>
          </a:pPr>
          <a:r>
            <a:rPr lang="en-US" sz="2200" kern="1200"/>
            <a:t>Develop distributed cognition models for human-AI measurement systems</a:t>
          </a:r>
        </a:p>
      </dsp:txBody>
      <dsp:txXfrm>
        <a:off x="399075" y="1204821"/>
        <a:ext cx="2586037" cy="1639967"/>
      </dsp:txXfrm>
    </dsp:sp>
    <dsp:sp modelId="{B08F89C3-D25B-446F-BE71-EDD968358DF0}">
      <dsp:nvSpPr>
        <dsp:cNvPr id="0" name=""/>
        <dsp:cNvSpPr/>
      </dsp:nvSpPr>
      <dsp:spPr>
        <a:xfrm>
          <a:off x="1831102" y="1582780"/>
          <a:ext cx="3110801" cy="3110801"/>
        </a:xfrm>
        <a:prstGeom prst="leftCircularArrow">
          <a:avLst>
            <a:gd name="adj1" fmla="val 3622"/>
            <a:gd name="adj2" fmla="val 450652"/>
            <a:gd name="adj3" fmla="val 2226162"/>
            <a:gd name="adj4" fmla="val 9024489"/>
            <a:gd name="adj5" fmla="val 4225"/>
          </a:avLst>
        </a:prstGeom>
        <a:solidFill>
          <a:schemeClr val="accent1">
            <a:tint val="60000"/>
            <a:hueOff val="0"/>
            <a:satOff val="0"/>
            <a:lumOff val="0"/>
            <a:alphaOff val="0"/>
          </a:schemeClr>
        </a:solidFill>
        <a:ln>
          <a:noFill/>
        </a:ln>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CDF14A4F-00C5-478C-96A4-C15DA3600E0F}">
      <dsp:nvSpPr>
        <dsp:cNvPr id="0" name=""/>
        <dsp:cNvSpPr/>
      </dsp:nvSpPr>
      <dsp:spPr>
        <a:xfrm>
          <a:off x="945404" y="2895810"/>
          <a:ext cx="2389405" cy="950187"/>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5245" tIns="36830" rIns="55245" bIns="36830" numCol="1" spcCol="1270" anchor="ctr" anchorCtr="0">
          <a:noAutofit/>
        </a:bodyPr>
        <a:lstStyle/>
        <a:p>
          <a:pPr marL="0" lvl="0" indent="0" algn="ctr" defTabSz="1289050" rtl="0">
            <a:lnSpc>
              <a:spcPct val="90000"/>
            </a:lnSpc>
            <a:spcBef>
              <a:spcPct val="0"/>
            </a:spcBef>
            <a:spcAft>
              <a:spcPct val="35000"/>
            </a:spcAft>
            <a:buNone/>
          </a:pPr>
          <a:r>
            <a:rPr lang="en-US" sz="2900" kern="1200"/>
            <a:t>Theoretical Extension</a:t>
          </a:r>
        </a:p>
      </dsp:txBody>
      <dsp:txXfrm>
        <a:off x="973234" y="2923640"/>
        <a:ext cx="2333745" cy="894527"/>
      </dsp:txXfrm>
    </dsp:sp>
    <dsp:sp modelId="{E3C9D7F5-E001-4ADC-A5EC-3077AF59F1D5}">
      <dsp:nvSpPr>
        <dsp:cNvPr id="0" name=""/>
        <dsp:cNvSpPr/>
      </dsp:nvSpPr>
      <dsp:spPr>
        <a:xfrm>
          <a:off x="3871275" y="1153799"/>
          <a:ext cx="2688081" cy="2217104"/>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4450" h="1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t" anchorCtr="0">
          <a:noAutofit/>
        </a:bodyPr>
        <a:lstStyle/>
        <a:p>
          <a:pPr marL="228600" lvl="1" indent="-228600" algn="l" defTabSz="977900" rtl="0">
            <a:lnSpc>
              <a:spcPct val="90000"/>
            </a:lnSpc>
            <a:spcBef>
              <a:spcPct val="0"/>
            </a:spcBef>
            <a:spcAft>
              <a:spcPct val="15000"/>
            </a:spcAft>
            <a:buChar char="•"/>
          </a:pPr>
          <a:r>
            <a:rPr lang="en-US" sz="2200" kern="1200"/>
            <a:t>Combine standardized core items with AI-enhanced modules</a:t>
          </a:r>
        </a:p>
      </dsp:txBody>
      <dsp:txXfrm>
        <a:off x="3922297" y="1679915"/>
        <a:ext cx="2586037" cy="1639967"/>
      </dsp:txXfrm>
    </dsp:sp>
    <dsp:sp modelId="{3B875AF8-9E21-4145-ADE3-CB4668F2CAD4}">
      <dsp:nvSpPr>
        <dsp:cNvPr id="0" name=""/>
        <dsp:cNvSpPr/>
      </dsp:nvSpPr>
      <dsp:spPr>
        <a:xfrm>
          <a:off x="5331924" y="-255809"/>
          <a:ext cx="3454278" cy="3454278"/>
        </a:xfrm>
        <a:prstGeom prst="circularArrow">
          <a:avLst>
            <a:gd name="adj1" fmla="val 3261"/>
            <a:gd name="adj2" fmla="val 402375"/>
            <a:gd name="adj3" fmla="val 19422114"/>
            <a:gd name="adj4" fmla="val 12575511"/>
            <a:gd name="adj5" fmla="val 3805"/>
          </a:avLst>
        </a:prstGeom>
        <a:solidFill>
          <a:schemeClr val="accent1">
            <a:tint val="60000"/>
            <a:hueOff val="0"/>
            <a:satOff val="0"/>
            <a:lumOff val="0"/>
            <a:alphaOff val="0"/>
          </a:schemeClr>
        </a:solidFill>
        <a:ln>
          <a:noFill/>
        </a:ln>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FB9AD6C3-C2C5-4929-B4EE-1FE17651D659}">
      <dsp:nvSpPr>
        <dsp:cNvPr id="0" name=""/>
        <dsp:cNvSpPr/>
      </dsp:nvSpPr>
      <dsp:spPr>
        <a:xfrm>
          <a:off x="4468627" y="678705"/>
          <a:ext cx="2389405" cy="950187"/>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5245" tIns="36830" rIns="55245" bIns="36830" numCol="1" spcCol="1270" anchor="ctr" anchorCtr="0">
          <a:noAutofit/>
        </a:bodyPr>
        <a:lstStyle/>
        <a:p>
          <a:pPr marL="0" lvl="0" indent="0" algn="ctr" defTabSz="1289050">
            <a:lnSpc>
              <a:spcPct val="90000"/>
            </a:lnSpc>
            <a:spcBef>
              <a:spcPct val="0"/>
            </a:spcBef>
            <a:spcAft>
              <a:spcPct val="35000"/>
            </a:spcAft>
            <a:buNone/>
          </a:pPr>
          <a:r>
            <a:rPr lang="en-US" sz="2900" kern="1200"/>
            <a:t>Hybrid Design</a:t>
          </a:r>
        </a:p>
      </dsp:txBody>
      <dsp:txXfrm>
        <a:off x="4496457" y="706535"/>
        <a:ext cx="2333745" cy="894527"/>
      </dsp:txXfrm>
    </dsp:sp>
    <dsp:sp modelId="{08958AA8-A4FE-4ED1-B70A-6B07F495748B}">
      <dsp:nvSpPr>
        <dsp:cNvPr id="0" name=""/>
        <dsp:cNvSpPr/>
      </dsp:nvSpPr>
      <dsp:spPr>
        <a:xfrm>
          <a:off x="7394498" y="1153799"/>
          <a:ext cx="2688081" cy="2217104"/>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4450" h="1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t" anchorCtr="0">
          <a:noAutofit/>
        </a:bodyPr>
        <a:lstStyle/>
        <a:p>
          <a:pPr marL="228600" lvl="1" indent="-228600" algn="l" defTabSz="977900" rtl="0">
            <a:lnSpc>
              <a:spcPct val="90000"/>
            </a:lnSpc>
            <a:spcBef>
              <a:spcPct val="0"/>
            </a:spcBef>
            <a:spcAft>
              <a:spcPct val="15000"/>
            </a:spcAft>
            <a:buChar char="•"/>
          </a:pPr>
          <a:r>
            <a:rPr lang="en-US" sz="2200" kern="1200"/>
            <a:t>Parallel testing protocols comparing traditional and LLM-PROMs</a:t>
          </a:r>
        </a:p>
      </dsp:txBody>
      <dsp:txXfrm>
        <a:off x="7445520" y="1204821"/>
        <a:ext cx="2586037" cy="1639967"/>
      </dsp:txXfrm>
    </dsp:sp>
    <dsp:sp modelId="{FC6C3B7B-F03A-4D3C-AD5D-D42A1B314642}">
      <dsp:nvSpPr>
        <dsp:cNvPr id="0" name=""/>
        <dsp:cNvSpPr/>
      </dsp:nvSpPr>
      <dsp:spPr>
        <a:xfrm>
          <a:off x="7991849" y="2895810"/>
          <a:ext cx="2389405" cy="950187"/>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5245" tIns="36830" rIns="55245" bIns="36830" numCol="1" spcCol="1270" anchor="ctr" anchorCtr="0">
          <a:noAutofit/>
        </a:bodyPr>
        <a:lstStyle/>
        <a:p>
          <a:pPr marL="0" lvl="0" indent="0" algn="ctr" defTabSz="1289050" rtl="0">
            <a:lnSpc>
              <a:spcPct val="90000"/>
            </a:lnSpc>
            <a:spcBef>
              <a:spcPct val="0"/>
            </a:spcBef>
            <a:spcAft>
              <a:spcPct val="35000"/>
            </a:spcAft>
            <a:buNone/>
          </a:pPr>
          <a:r>
            <a:rPr lang="en-US" sz="2900" kern="1200"/>
            <a:t>Validation Studies</a:t>
          </a:r>
        </a:p>
      </dsp:txBody>
      <dsp:txXfrm>
        <a:off x="8019679" y="2923640"/>
        <a:ext cx="2333745" cy="894527"/>
      </dsp:txXfrm>
    </dsp:sp>
  </dsp:spTree>
</dsp:drawing>
</file>

<file path=ppt/diagrams/layout1.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EEE5CC-FD90-4388-9392-9DFD89A79B0F}" type="datetimeFigureOut">
              <a:rPr lang="en-US" smtClean="0"/>
              <a:t>9/13/2025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C829B2-BA8F-4E75-BBD7-E78A35CB7F70}" type="slidenum">
              <a:rPr lang="en-US" smtClean="0"/>
              <a:t>‹#›</a:t>
            </a:fld>
            <a:endParaRPr lang="en-US"/>
          </a:p>
        </p:txBody>
      </p:sp>
    </p:spTree>
    <p:extLst>
      <p:ext uri="{BB962C8B-B14F-4D97-AF65-F5344CB8AC3E}">
        <p14:creationId xmlns:p14="http://schemas.microsoft.com/office/powerpoint/2010/main" val="3689855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Good morning. I'm Kevin Linares from the University of Maryland Institute for Health Computing. </a:t>
            </a:r>
          </a:p>
          <a:p>
            <a:r>
              <a:rPr lang="en-US"/>
              <a:t>Today, I'll present our theoretical analysis of how Large Language Models are fundamentally transforming survey research, specifically in health surveys. </a:t>
            </a:r>
          </a:p>
          <a:p>
            <a:r>
              <a:rPr lang="en-US"/>
              <a:t>This work applies cognitive response theory to understand both the promises and challenges of AI integration in patient-reported outcome measures.</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E3C829B2-BA8F-4E75-BBD7-E78A35CB7F70}" type="slidenum">
              <a:rPr lang="en-US" smtClean="0"/>
              <a:t>1</a:t>
            </a:fld>
            <a:endParaRPr lang="en-US"/>
          </a:p>
        </p:txBody>
      </p:sp>
    </p:spTree>
    <p:extLst>
      <p:ext uri="{BB962C8B-B14F-4D97-AF65-F5344CB8AC3E}">
        <p14:creationId xmlns:p14="http://schemas.microsoft.com/office/powerpoint/2010/main" val="24160316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stand at a critical juncture in survey methodology. LLMs are rapidly being integrated into health surveys, yet we lack theoretical frameworks to understand their impact on measurement validity. </a:t>
            </a:r>
          </a:p>
          <a:p>
            <a:endParaRPr lang="en-US"/>
          </a:p>
          <a:p>
            <a:r>
              <a:rPr lang="en-US" dirty="0"/>
              <a:t>As the recent AAPOR newsletter noted, we need theoretical understanding to leverage these tools effectively.</a:t>
            </a:r>
          </a:p>
          <a:p>
            <a:endParaRPr lang="en-US"/>
          </a:p>
          <a:p>
            <a:r>
              <a:rPr lang="en-US" dirty="0"/>
              <a:t>Traditional patient-reported outcome measures (PROMs—which measure well-being, medical symptoms, and overall health—are rigid, sometimes use complex medical terminology, force patients into predetermined response options, and provide post-hoc insights. </a:t>
            </a:r>
          </a:p>
          <a:p>
            <a:endParaRPr lang="en-US"/>
          </a:p>
          <a:p>
            <a:r>
              <a:rPr lang="en-US" dirty="0"/>
              <a:t>LLMs promise to address these issues through adaptive dialogue and personalization. </a:t>
            </a:r>
          </a:p>
          <a:p>
            <a:endParaRPr lang="en-US"/>
          </a:p>
          <a:p>
            <a:r>
              <a:rPr lang="en-US" dirty="0"/>
              <a:t>However, before integrating these new technologies we must consider their threats to measurement validity. </a:t>
            </a:r>
          </a:p>
          <a:p>
            <a:endParaRPr lang="en-US"/>
          </a:p>
          <a:p>
            <a:r>
              <a:rPr lang="en-US" dirty="0"/>
              <a:t>That's what we'll explore today through the lens of cognitive response theory.</a:t>
            </a:r>
          </a:p>
          <a:p>
            <a:endParaRPr lang="en-US"/>
          </a:p>
        </p:txBody>
      </p:sp>
      <p:sp>
        <p:nvSpPr>
          <p:cNvPr id="4" name="Slide Number Placeholder 3"/>
          <p:cNvSpPr>
            <a:spLocks noGrp="1"/>
          </p:cNvSpPr>
          <p:nvPr>
            <p:ph type="sldNum" sz="quarter" idx="5"/>
          </p:nvPr>
        </p:nvSpPr>
        <p:spPr/>
        <p:txBody>
          <a:bodyPr/>
          <a:lstStyle/>
          <a:p>
            <a:fld id="{E3C829B2-BA8F-4E75-BBD7-E78A35CB7F70}" type="slidenum">
              <a:rPr lang="en-US" smtClean="0"/>
              <a:t>2</a:t>
            </a:fld>
            <a:endParaRPr lang="en-US"/>
          </a:p>
        </p:txBody>
      </p:sp>
    </p:spTree>
    <p:extLst>
      <p:ext uri="{BB962C8B-B14F-4D97-AF65-F5344CB8AC3E}">
        <p14:creationId xmlns:p14="http://schemas.microsoft.com/office/powerpoint/2010/main" val="569752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roadmap for today will start with a brief overview of how LLMs are currently being used in survey research. </a:t>
            </a:r>
          </a:p>
          <a:p>
            <a:endParaRPr lang="en-US"/>
          </a:p>
          <a:p>
            <a:r>
              <a:rPr lang="en-US"/>
              <a:t>Then I'll introduce how we've applied Tourangeau's cognitive response framework to analyze these applications. </a:t>
            </a:r>
          </a:p>
          <a:p>
            <a:endParaRPr lang="en-US"/>
          </a:p>
          <a:p>
            <a:r>
              <a:rPr lang="en-US"/>
              <a:t>The core of our presentation examines how LLMs transform each of the four cognitive stages. </a:t>
            </a:r>
          </a:p>
          <a:p>
            <a:endParaRPr lang="en-US"/>
          </a:p>
          <a:p>
            <a:r>
              <a:rPr lang="en-US"/>
              <a:t>Finally, we'll discuss practical implications and our key recommendation about patient partnership. Let's begin.</a:t>
            </a:r>
          </a:p>
        </p:txBody>
      </p:sp>
      <p:sp>
        <p:nvSpPr>
          <p:cNvPr id="4" name="Slide Number Placeholder 3"/>
          <p:cNvSpPr>
            <a:spLocks noGrp="1"/>
          </p:cNvSpPr>
          <p:nvPr>
            <p:ph type="sldNum" sz="quarter" idx="5"/>
          </p:nvPr>
        </p:nvSpPr>
        <p:spPr/>
        <p:txBody>
          <a:bodyPr/>
          <a:lstStyle/>
          <a:p>
            <a:fld id="{E3C829B2-BA8F-4E75-BBD7-E78A35CB7F70}" type="slidenum">
              <a:rPr lang="en-US" smtClean="0"/>
              <a:t>3</a:t>
            </a:fld>
            <a:endParaRPr lang="en-US"/>
          </a:p>
        </p:txBody>
      </p:sp>
    </p:spTree>
    <p:extLst>
      <p:ext uri="{BB962C8B-B14F-4D97-AF65-F5344CB8AC3E}">
        <p14:creationId xmlns:p14="http://schemas.microsoft.com/office/powerpoint/2010/main" val="15048629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0A43A-3A17-2BA0-485F-C0F1ECAAEE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51D9CA-B873-5280-EE4D-8C9AC64AA8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AF661E-FD83-8F72-56F6-EDBA36739CC8}"/>
              </a:ext>
            </a:extLst>
          </p:cNvPr>
          <p:cNvSpPr>
            <a:spLocks noGrp="1"/>
          </p:cNvSpPr>
          <p:nvPr>
            <p:ph type="body" idx="1"/>
          </p:nvPr>
        </p:nvSpPr>
        <p:spPr/>
        <p:txBody>
          <a:bodyPr/>
          <a:lstStyle/>
          <a:p>
            <a:r>
              <a:rPr lang="en-US" dirty="0"/>
              <a:t>LLMs are AI systems trained on vast amounts of text data that can engage in human-like conversation. </a:t>
            </a:r>
          </a:p>
          <a:p>
            <a:endParaRPr lang="en-US"/>
          </a:p>
          <a:p>
            <a:r>
              <a:rPr lang="en-US" dirty="0"/>
              <a:t>Think ChatGPT - these systems understand some context, can clarify ambiguous terms, and adapt their responses based on the conversation flow.</a:t>
            </a:r>
          </a:p>
          <a:p>
            <a:endParaRPr lang="en-US"/>
          </a:p>
          <a:p>
            <a:r>
              <a:rPr lang="en-US" dirty="0"/>
              <a:t>Critically for survey research, LLMs can remember previous responses within a conversation, allowing for follow-up questions and clarifications. </a:t>
            </a:r>
          </a:p>
          <a:p>
            <a:endParaRPr lang="en-US"/>
          </a:p>
          <a:p>
            <a:r>
              <a:rPr lang="en-US" dirty="0"/>
              <a:t>They represent a fundamental shift from static questionnaires to dynamic conversational assessments. This conversational ability makes them particularly attractive for health surveys where patients often struggle to fit their experiences into predetermined response categories.</a:t>
            </a:r>
          </a:p>
          <a:p>
            <a:endParaRPr lang="en-US"/>
          </a:p>
        </p:txBody>
      </p:sp>
      <p:sp>
        <p:nvSpPr>
          <p:cNvPr id="4" name="Slide Number Placeholder 3">
            <a:extLst>
              <a:ext uri="{FF2B5EF4-FFF2-40B4-BE49-F238E27FC236}">
                <a16:creationId xmlns:a16="http://schemas.microsoft.com/office/drawing/2014/main" id="{1978147D-D3FE-03DB-34E3-61FEE7384801}"/>
              </a:ext>
            </a:extLst>
          </p:cNvPr>
          <p:cNvSpPr>
            <a:spLocks noGrp="1"/>
          </p:cNvSpPr>
          <p:nvPr>
            <p:ph type="sldNum" sz="quarter" idx="5"/>
          </p:nvPr>
        </p:nvSpPr>
        <p:spPr/>
        <p:txBody>
          <a:bodyPr/>
          <a:lstStyle/>
          <a:p>
            <a:fld id="{E3C829B2-BA8F-4E75-BBD7-E78A35CB7F70}" type="slidenum">
              <a:rPr lang="en-US" smtClean="0"/>
              <a:t>4</a:t>
            </a:fld>
            <a:endParaRPr lang="en-US"/>
          </a:p>
        </p:txBody>
      </p:sp>
    </p:spTree>
    <p:extLst>
      <p:ext uri="{BB962C8B-B14F-4D97-AF65-F5344CB8AC3E}">
        <p14:creationId xmlns:p14="http://schemas.microsoft.com/office/powerpoint/2010/main" val="15912226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LLMs are already being deployed across the survey lifecycle, to include:</a:t>
            </a:r>
          </a:p>
          <a:p>
            <a:pPr marL="285750" indent="-285750">
              <a:buFont typeface="Arial"/>
              <a:buChar char="•"/>
            </a:pPr>
            <a:r>
              <a:rPr lang="en-US"/>
              <a:t>AI conducting qualitative interviews with adaptive probes</a:t>
            </a:r>
          </a:p>
          <a:p>
            <a:pPr marL="285750" indent="-285750">
              <a:buFont typeface="Arial"/>
              <a:buChar char="•"/>
            </a:pPr>
            <a:r>
              <a:rPr lang="en-US"/>
              <a:t>Automated coding of open-ended responses</a:t>
            </a:r>
          </a:p>
          <a:p>
            <a:pPr marL="285750" indent="-285750">
              <a:buFont typeface="Arial"/>
              <a:buChar char="•"/>
            </a:pPr>
            <a:r>
              <a:rPr lang="en-US"/>
              <a:t>Questionnaire design and bias detection</a:t>
            </a:r>
          </a:p>
          <a:p>
            <a:pPr marL="285750" indent="-285750">
              <a:buFont typeface="Arial"/>
              <a:buChar char="•"/>
            </a:pPr>
            <a:r>
              <a:rPr lang="en-US"/>
              <a:t>More recently, two  separate studies found that about a third of respondents endorsed using AI to generates answers to open-ended survey questions.</a:t>
            </a:r>
          </a:p>
          <a:p>
            <a:pPr marL="628650" lvl="1" indent="-285750">
              <a:buFont typeface="Courier New"/>
              <a:buChar char="o"/>
            </a:pPr>
            <a:r>
              <a:rPr lang="en-US"/>
              <a:t>This bidirectional AI use - by both researchers and respondents - makes theoretical understanding urgent. </a:t>
            </a:r>
          </a:p>
          <a:p>
            <a:pPr marL="285750" indent="-285750">
              <a:buFont typeface="Arial"/>
              <a:buChar char="•"/>
            </a:pPr>
            <a:r>
              <a:rPr lang="en-US"/>
              <a:t>We're not just changing survey mode; we're transforming the cognitive processes underlying survey response.</a:t>
            </a:r>
          </a:p>
          <a:p>
            <a:endParaRPr lang="en-US"/>
          </a:p>
        </p:txBody>
      </p:sp>
      <p:sp>
        <p:nvSpPr>
          <p:cNvPr id="4" name="Slide Number Placeholder 3"/>
          <p:cNvSpPr>
            <a:spLocks noGrp="1"/>
          </p:cNvSpPr>
          <p:nvPr>
            <p:ph type="sldNum" sz="quarter" idx="5"/>
          </p:nvPr>
        </p:nvSpPr>
        <p:spPr/>
        <p:txBody>
          <a:bodyPr/>
          <a:lstStyle/>
          <a:p>
            <a:fld id="{E3C829B2-BA8F-4E75-BBD7-E78A35CB7F70}" type="slidenum">
              <a:rPr lang="en-US" smtClean="0"/>
              <a:t>5</a:t>
            </a:fld>
            <a:endParaRPr lang="en-US"/>
          </a:p>
        </p:txBody>
      </p:sp>
    </p:spTree>
    <p:extLst>
      <p:ext uri="{BB962C8B-B14F-4D97-AF65-F5344CB8AC3E}">
        <p14:creationId xmlns:p14="http://schemas.microsoft.com/office/powerpoint/2010/main" val="21200364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understand AI's impact, we turn to Tourangeau's foundational framework. </a:t>
            </a:r>
          </a:p>
          <a:p>
            <a:endParaRPr lang="en-US"/>
          </a:p>
          <a:p>
            <a:r>
              <a:rPr lang="en-US"/>
              <a:t>This model explains how respondents cognitively process survey questions through four stages.</a:t>
            </a:r>
          </a:p>
          <a:p>
            <a:pPr marL="171450" indent="-171450">
              <a:buFont typeface="Arial"/>
              <a:buChar char="•"/>
            </a:pPr>
            <a:r>
              <a:rPr lang="en-US"/>
              <a:t>First, COMPREHENSION - respondents fail or succeed at interpreting what we're asking. </a:t>
            </a:r>
          </a:p>
          <a:p>
            <a:pPr marL="171450" indent="-171450">
              <a:buFont typeface="Arial"/>
              <a:buChar char="•"/>
            </a:pPr>
            <a:r>
              <a:rPr lang="en-US"/>
              <a:t>Second, RETRIEVAL - they search through their memory for relevant information. </a:t>
            </a:r>
          </a:p>
          <a:p>
            <a:pPr marL="171450" indent="-171450">
              <a:buFont typeface="Arial"/>
              <a:buChar char="•"/>
            </a:pPr>
            <a:r>
              <a:rPr lang="en-US"/>
              <a:t>Third, JUDGMENT - they integrate and evaluate the retrieved information. </a:t>
            </a:r>
          </a:p>
          <a:p>
            <a:pPr marL="171450" indent="-171450">
              <a:buFont typeface="Arial"/>
              <a:buChar char="•"/>
            </a:pPr>
            <a:r>
              <a:rPr lang="en-US"/>
              <a:t>Finally, RESPONSE - they map their internal assessment onto our answer format.</a:t>
            </a:r>
          </a:p>
          <a:p>
            <a:pPr marL="171450" indent="-171450">
              <a:buFont typeface="Arial"/>
              <a:buChar char="•"/>
            </a:pPr>
            <a:endParaRPr lang="en-US"/>
          </a:p>
          <a:p>
            <a:r>
              <a:rPr lang="en-US"/>
              <a:t>Importantly, these stages interact - difficulty in one stage affects others. Each stage has distinct error sources that affect measurement validity. Now, let's examine how LLMs fundamentally alter each stage.</a:t>
            </a:r>
          </a:p>
          <a:p>
            <a:endParaRPr lang="en-US"/>
          </a:p>
          <a:p>
            <a:pPr>
              <a:buFont typeface="Arial"/>
              <a:buChar char="•"/>
            </a:pPr>
            <a:endParaRPr lang="en-US"/>
          </a:p>
          <a:p>
            <a:pPr marL="171450" indent="-171450">
              <a:buFont typeface="Arial"/>
              <a:buChar char="•"/>
            </a:pPr>
            <a:endParaRPr lang="en-US"/>
          </a:p>
        </p:txBody>
      </p:sp>
      <p:sp>
        <p:nvSpPr>
          <p:cNvPr id="4" name="Slide Number Placeholder 3"/>
          <p:cNvSpPr>
            <a:spLocks noGrp="1"/>
          </p:cNvSpPr>
          <p:nvPr>
            <p:ph type="sldNum" sz="quarter" idx="5"/>
          </p:nvPr>
        </p:nvSpPr>
        <p:spPr/>
        <p:txBody>
          <a:bodyPr/>
          <a:lstStyle/>
          <a:p>
            <a:fld id="{E3C829B2-BA8F-4E75-BBD7-E78A35CB7F70}" type="slidenum">
              <a:rPr lang="en-US" smtClean="0"/>
              <a:t>6</a:t>
            </a:fld>
            <a:endParaRPr lang="en-US"/>
          </a:p>
        </p:txBody>
      </p:sp>
    </p:spTree>
    <p:extLst>
      <p:ext uri="{BB962C8B-B14F-4D97-AF65-F5344CB8AC3E}">
        <p14:creationId xmlns:p14="http://schemas.microsoft.com/office/powerpoint/2010/main" val="19753227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A291D-473F-1139-56BF-F7994DBE80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342FA6-26BA-43B6-AC65-1910E8AEB2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36405A-017A-8419-EDE1-1A3BDEAE9BE1}"/>
              </a:ext>
            </a:extLst>
          </p:cNvPr>
          <p:cNvSpPr>
            <a:spLocks noGrp="1"/>
          </p:cNvSpPr>
          <p:nvPr>
            <p:ph type="body" idx="1"/>
          </p:nvPr>
        </p:nvSpPr>
        <p:spPr/>
        <p:txBody>
          <a:bodyPr/>
          <a:lstStyle/>
          <a:p>
            <a:r>
              <a:rPr lang="en-US" dirty="0"/>
              <a:t>Our theoretical analysis compares traditional human-only cognition with the new LLM-PROM hybrid process. </a:t>
            </a:r>
          </a:p>
          <a:p>
            <a:endParaRPr lang="en-US"/>
          </a:p>
          <a:p>
            <a:r>
              <a:rPr lang="en-US" dirty="0"/>
              <a:t>Traditional surveys assume a single respondent processing questions internally with standardized items ensuring comparability.</a:t>
            </a:r>
          </a:p>
          <a:p>
            <a:endParaRPr lang="en-US"/>
          </a:p>
          <a:p>
            <a:r>
              <a:rPr lang="en-US" dirty="0"/>
              <a:t>LLM-PROMs create distributed cognition between humans and AI, with external processing and dynamic adaptation. </a:t>
            </a:r>
          </a:p>
          <a:p>
            <a:endParaRPr lang="en-US"/>
          </a:p>
          <a:p>
            <a:r>
              <a:rPr lang="en-US" dirty="0"/>
              <a:t>This isn't just a new tool - it's a fundamental shift in how survey responses are constructed. </a:t>
            </a:r>
          </a:p>
          <a:p>
            <a:endParaRPr lang="en-US"/>
          </a:p>
          <a:p>
            <a:r>
              <a:rPr lang="en-US" dirty="0"/>
              <a:t>We analyzed each cognitive stage using decades of survey methodology research to identify both benefits and threats to measurement validity. Now let's see what happens at each cognitive stage.</a:t>
            </a:r>
          </a:p>
          <a:p>
            <a:endParaRPr lang="en-US"/>
          </a:p>
        </p:txBody>
      </p:sp>
      <p:sp>
        <p:nvSpPr>
          <p:cNvPr id="4" name="Slide Number Placeholder 3">
            <a:extLst>
              <a:ext uri="{FF2B5EF4-FFF2-40B4-BE49-F238E27FC236}">
                <a16:creationId xmlns:a16="http://schemas.microsoft.com/office/drawing/2014/main" id="{388A82EB-C78E-D1F8-5587-C20FDB047762}"/>
              </a:ext>
            </a:extLst>
          </p:cNvPr>
          <p:cNvSpPr>
            <a:spLocks noGrp="1"/>
          </p:cNvSpPr>
          <p:nvPr>
            <p:ph type="sldNum" sz="quarter" idx="5"/>
          </p:nvPr>
        </p:nvSpPr>
        <p:spPr/>
        <p:txBody>
          <a:bodyPr/>
          <a:lstStyle/>
          <a:p>
            <a:fld id="{E3C829B2-BA8F-4E75-BBD7-E78A35CB7F70}" type="slidenum">
              <a:rPr lang="en-US" smtClean="0"/>
              <a:t>7</a:t>
            </a:fld>
            <a:endParaRPr lang="en-US"/>
          </a:p>
        </p:txBody>
      </p:sp>
    </p:spTree>
    <p:extLst>
      <p:ext uri="{BB962C8B-B14F-4D97-AF65-F5344CB8AC3E}">
        <p14:creationId xmlns:p14="http://schemas.microsoft.com/office/powerpoint/2010/main" val="14364987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a:t>In the comprehension stage, LLMs can adapt questions to individual health literacy levels.</a:t>
            </a:r>
          </a:p>
          <a:p>
            <a:pPr marL="171450" indent="-171450">
              <a:buFont typeface="Arial"/>
              <a:buChar char="•"/>
            </a:pPr>
            <a:r>
              <a:rPr lang="en-US"/>
              <a:t>Imagine explaining "hypertension" differently based on patient education. </a:t>
            </a:r>
          </a:p>
          <a:p>
            <a:pPr marL="514350" lvl="1" indent="-171450">
              <a:buFont typeface="Courier New,monospace"/>
              <a:buChar char="o"/>
            </a:pPr>
            <a:r>
              <a:rPr lang="en-US"/>
              <a:t>They clarify ambiguous medical terminology in real-time and personalize question phrasing to cultural contexts.</a:t>
            </a:r>
          </a:p>
          <a:p>
            <a:pPr marL="171450" indent="-171450">
              <a:buFont typeface="Arial"/>
              <a:buChar char="•"/>
            </a:pPr>
            <a:endParaRPr lang="en-US"/>
          </a:p>
          <a:p>
            <a:pPr marL="171450" indent="-171450">
              <a:buFont typeface="Arial"/>
              <a:buChar char="•"/>
            </a:pPr>
            <a:r>
              <a:rPr lang="en-US"/>
              <a:t>But here's the fundamental trade-off: we lose standardization. </a:t>
            </a:r>
          </a:p>
          <a:p>
            <a:pPr marL="171450" indent="-171450">
              <a:buFont typeface="Arial"/>
              <a:buChar char="•"/>
            </a:pPr>
            <a:endParaRPr lang="en-US"/>
          </a:p>
          <a:p>
            <a:pPr marL="171450" indent="-171450">
              <a:buFont typeface="Arial"/>
              <a:buChar char="•"/>
            </a:pPr>
            <a:r>
              <a:rPr lang="en-US"/>
              <a:t>When every patient receives differently worded questions, how do we compare responses? </a:t>
            </a:r>
          </a:p>
          <a:p>
            <a:pPr marL="514350" lvl="1" indent="-171450">
              <a:buFont typeface="Courier New,monospace"/>
              <a:buChar char="o"/>
            </a:pPr>
            <a:r>
              <a:rPr lang="en-US"/>
              <a:t>Research has shown that while clarification improves understanding, it changes what we're measuring.</a:t>
            </a:r>
          </a:p>
          <a:p>
            <a:pPr marL="514350" lvl="1" indent="-171450">
              <a:buFont typeface="Courier New,monospace"/>
              <a:buChar char="o"/>
            </a:pPr>
            <a:r>
              <a:rPr lang="en-US"/>
              <a:t>Standardization also enables temporal comparability and we can only track change over time with consistent questions.</a:t>
            </a:r>
          </a:p>
          <a:p>
            <a:pPr marL="514350" lvl="1" indent="-171450">
              <a:buFont typeface="Courier New,monospace"/>
              <a:buChar char="o"/>
            </a:pPr>
            <a:r>
              <a:rPr lang="en-US"/>
              <a:t>Most critically, LLM comprehension derives from training data patterns, not psychometric principles. </a:t>
            </a:r>
          </a:p>
          <a:p>
            <a:pPr marL="628650" lvl="1" indent="-171450">
              <a:buFont typeface="Courier New,monospace"/>
              <a:buChar char="o"/>
            </a:pPr>
            <a:r>
              <a:rPr lang="en-US"/>
              <a:t>The AI doesn't understand our measurement goals; it predicts likely conversational responses.</a:t>
            </a:r>
          </a:p>
        </p:txBody>
      </p:sp>
      <p:sp>
        <p:nvSpPr>
          <p:cNvPr id="4" name="Slide Number Placeholder 3"/>
          <p:cNvSpPr>
            <a:spLocks noGrp="1"/>
          </p:cNvSpPr>
          <p:nvPr>
            <p:ph type="sldNum" sz="quarter" idx="5"/>
          </p:nvPr>
        </p:nvSpPr>
        <p:spPr/>
        <p:txBody>
          <a:bodyPr/>
          <a:lstStyle/>
          <a:p>
            <a:fld id="{E3C829B2-BA8F-4E75-BBD7-E78A35CB7F70}" type="slidenum">
              <a:rPr lang="en-US" smtClean="0"/>
              <a:t>8</a:t>
            </a:fld>
            <a:endParaRPr lang="en-US"/>
          </a:p>
        </p:txBody>
      </p:sp>
    </p:spTree>
    <p:extLst>
      <p:ext uri="{BB962C8B-B14F-4D97-AF65-F5344CB8AC3E}">
        <p14:creationId xmlns:p14="http://schemas.microsoft.com/office/powerpoint/2010/main" val="41687959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retrieval stage presents perhaps our most serious validity threat. </a:t>
            </a:r>
          </a:p>
          <a:p>
            <a:endParaRPr lang="en-US"/>
          </a:p>
          <a:p>
            <a:r>
              <a:rPr lang="en-US"/>
              <a:t>LLMs can help patients systematically review symptoms, sequence health events chronologically, and prompt for forgotten details - particularly valuable for complex medical histories.</a:t>
            </a:r>
          </a:p>
          <a:p>
            <a:pPr marL="171450" indent="-171450">
              <a:buFont typeface="Arial"/>
              <a:buChar char="•"/>
            </a:pPr>
            <a:r>
              <a:rPr lang="en-US"/>
              <a:t>However, cognitive interview research reveals how suggestion influences memory construction. </a:t>
            </a:r>
          </a:p>
          <a:p>
            <a:pPr marL="628650" lvl="1" indent="-171450">
              <a:buFont typeface="Courier New"/>
              <a:buChar char="o"/>
            </a:pPr>
            <a:r>
              <a:rPr lang="en-US"/>
              <a:t>When AI suggests symptoms based on medical training data, patients may affirm experiences they never had. </a:t>
            </a:r>
          </a:p>
          <a:p>
            <a:pPr marL="171450" indent="-171450">
              <a:buFont typeface="Arial"/>
              <a:buChar char="•"/>
            </a:pPr>
            <a:r>
              <a:rPr lang="en-US"/>
              <a:t>Patients can also develop false memories of suggested events. </a:t>
            </a:r>
          </a:p>
          <a:p>
            <a:pPr marL="171450" indent="-171450">
              <a:buFont typeface="Arial"/>
              <a:buChar char="•"/>
            </a:pPr>
            <a:r>
              <a:rPr lang="en-US"/>
              <a:t>Research on autobiographical memory demonstrates how external suggestions become integrated into personal narratives.</a:t>
            </a:r>
          </a:p>
          <a:p>
            <a:endParaRPr lang="en-US"/>
          </a:p>
          <a:p>
            <a:r>
              <a:rPr lang="en-US"/>
              <a:t>We risk contaminating genuine health experiences with textbook symptom descriptions.</a:t>
            </a:r>
          </a:p>
          <a:p>
            <a:endParaRPr lang="en-US"/>
          </a:p>
          <a:p>
            <a:r>
              <a:rPr lang="en-US"/>
              <a:t>The AI's medical knowledge becomes entangled with patient memory, making it impossible to distinguish authentic recall from suggested information.</a:t>
            </a:r>
          </a:p>
          <a:p>
            <a:endParaRPr lang="en-US"/>
          </a:p>
          <a:p>
            <a:pPr lvl="1" indent="-171450">
              <a:buFont typeface="Courier New"/>
              <a:buChar char="o"/>
            </a:pPr>
            <a:endParaRPr lang="en-US"/>
          </a:p>
          <a:p>
            <a:pPr marL="285750" lvl="1"/>
            <a:endParaRPr lang="en-US">
              <a:latin typeface="Aptos" panose="02110004020202020204"/>
              <a:ea typeface="Calibri"/>
              <a:cs typeface="Calibri"/>
            </a:endParaRPr>
          </a:p>
          <a:p>
            <a:endParaRPr lang="en-US">
              <a:latin typeface="Aptos" panose="02110004020202020204"/>
              <a:ea typeface="Calibri"/>
              <a:cs typeface="Calibri"/>
            </a:endParaRP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E3C829B2-BA8F-4E75-BBD7-E78A35CB7F70}" type="slidenum">
              <a:rPr lang="en-US" smtClean="0"/>
              <a:t>9</a:t>
            </a:fld>
            <a:endParaRPr lang="en-US"/>
          </a:p>
        </p:txBody>
      </p:sp>
    </p:spTree>
    <p:extLst>
      <p:ext uri="{BB962C8B-B14F-4D97-AF65-F5344CB8AC3E}">
        <p14:creationId xmlns:p14="http://schemas.microsoft.com/office/powerpoint/2010/main" val="18126090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judgment stage, we see a fundamental shift from internal patient evaluation to external algorithmic interpretation. </a:t>
            </a:r>
          </a:p>
          <a:p>
            <a:endParaRPr lang="en-US" dirty="0"/>
          </a:p>
          <a:p>
            <a:endParaRPr lang="en-US"/>
          </a:p>
          <a:p>
            <a:r>
              <a:rPr lang="en-US" dirty="0"/>
              <a:t>LLMs excel at processing complex narratives quickly and consistently, reducing burden on clinicians and coders.</a:t>
            </a:r>
          </a:p>
          <a:p>
            <a:r>
              <a:rPr lang="en-US" dirty="0"/>
              <a:t>But judgment isn't just calculation, it's deeply personal evaluation. </a:t>
            </a:r>
          </a:p>
          <a:p>
            <a:pPr marL="171450" indent="-171450">
              <a:buFont typeface="Arial"/>
              <a:buChar char="•"/>
            </a:pPr>
            <a:r>
              <a:rPr lang="en-US" dirty="0"/>
              <a:t>Respondents tend to use individual decision rules about what's relevant. </a:t>
            </a:r>
          </a:p>
          <a:p>
            <a:pPr marL="171450" indent="-171450">
              <a:buFont typeface="Arial"/>
              <a:buChar char="•"/>
            </a:pPr>
            <a:r>
              <a:rPr lang="en-US" dirty="0"/>
              <a:t>Personal context shapes frequency and intensity judgments. </a:t>
            </a:r>
          </a:p>
          <a:p>
            <a:pPr marL="171450" indent="-171450">
              <a:buFont typeface="Arial"/>
              <a:buChar char="•"/>
            </a:pPr>
            <a:r>
              <a:rPr lang="en-US" dirty="0"/>
              <a:t>Respondents also use unique reference points that AI cannot access.</a:t>
            </a:r>
          </a:p>
          <a:p>
            <a:endParaRPr lang="en-US"/>
          </a:p>
          <a:p>
            <a:r>
              <a:rPr lang="en-US" dirty="0"/>
              <a:t>When AI interprets patient narratives, we lose patient agency in determining what matters most. </a:t>
            </a:r>
          </a:p>
          <a:p>
            <a:pPr marL="171450" indent="-171450">
              <a:buFont typeface="Arial"/>
              <a:buChar char="•"/>
            </a:pPr>
            <a:r>
              <a:rPr lang="en-US" dirty="0"/>
              <a:t>The algorithm decides relevance based on statistical patterns, not lived experience.</a:t>
            </a:r>
          </a:p>
          <a:p>
            <a:pPr marL="171450" indent="-171450">
              <a:buFont typeface="Arial"/>
              <a:buChar char="•"/>
            </a:pPr>
            <a:r>
              <a:rPr lang="en-US" dirty="0"/>
              <a:t> Nuanced emotional factors and contextual meanings that patients understand implicitly are lost in algorithmic processing.</a:t>
            </a:r>
          </a:p>
          <a:p>
            <a:endParaRPr lang="en-US">
              <a:latin typeface="Aptos"/>
              <a:ea typeface="Calibri"/>
              <a:cs typeface="Calibri"/>
            </a:endParaRPr>
          </a:p>
        </p:txBody>
      </p:sp>
      <p:sp>
        <p:nvSpPr>
          <p:cNvPr id="4" name="Slide Number Placeholder 3"/>
          <p:cNvSpPr>
            <a:spLocks noGrp="1"/>
          </p:cNvSpPr>
          <p:nvPr>
            <p:ph type="sldNum" sz="quarter" idx="5"/>
          </p:nvPr>
        </p:nvSpPr>
        <p:spPr/>
        <p:txBody>
          <a:bodyPr/>
          <a:lstStyle/>
          <a:p>
            <a:fld id="{E3C829B2-BA8F-4E75-BBD7-E78A35CB7F70}" type="slidenum">
              <a:rPr lang="en-US" smtClean="0"/>
              <a:t>10</a:t>
            </a:fld>
            <a:endParaRPr lang="en-US"/>
          </a:p>
        </p:txBody>
      </p:sp>
    </p:spTree>
    <p:extLst>
      <p:ext uri="{BB962C8B-B14F-4D97-AF65-F5344CB8AC3E}">
        <p14:creationId xmlns:p14="http://schemas.microsoft.com/office/powerpoint/2010/main" val="14558338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response stage reveals how AI fundamentally alters expression itself. </a:t>
            </a:r>
          </a:p>
          <a:p>
            <a:endParaRPr lang="en-US"/>
          </a:p>
          <a:p>
            <a:r>
              <a:rPr lang="en-US" dirty="0"/>
              <a:t>LLMs capture rich narratives beyond forced-choice formats, reduce cognitive burden through conversational interaction, and potentially access dimensions of health patients struggle to articulate.</a:t>
            </a:r>
          </a:p>
          <a:p>
            <a:pPr marL="171450" indent="-171450">
              <a:buFont typeface="Arial"/>
              <a:buChar char="•"/>
            </a:pPr>
            <a:r>
              <a:rPr lang="en-US" dirty="0"/>
              <a:t>Research on human-machine interaction shows that AI participation makes responses a hybrid construction. </a:t>
            </a:r>
          </a:p>
          <a:p>
            <a:pPr marL="628650" lvl="1" indent="-171450">
              <a:buFont typeface="Courier New"/>
              <a:buChar char="o"/>
            </a:pPr>
            <a:r>
              <a:rPr lang="en-US" dirty="0"/>
              <a:t>When a patient talks with an AI to answer health questions, the AI shapes how the answer comes out. The final response is part patient, part AI - like two people writing a sentence together.</a:t>
            </a:r>
          </a:p>
          <a:p>
            <a:pPr marL="171450" indent="-171450">
              <a:buFont typeface="Arial"/>
              <a:buChar char="•"/>
            </a:pPr>
            <a:r>
              <a:rPr lang="en-US" dirty="0"/>
              <a:t>Research has also found that computer assisted mediation introduces systematic biases, suggesting that responses may reflect the AI's training data demographic and linguistic patterns.</a:t>
            </a:r>
          </a:p>
          <a:p>
            <a:pPr marL="171450" indent="-171450">
              <a:buFont typeface="Arial"/>
              <a:buChar char="•"/>
            </a:pPr>
            <a:r>
              <a:rPr lang="en-US" dirty="0"/>
              <a:t>Response styles also tend to be culturally embedded. </a:t>
            </a:r>
          </a:p>
          <a:p>
            <a:pPr lvl="1" indent="-171450">
              <a:buFont typeface="Courier New"/>
              <a:buChar char="o"/>
            </a:pPr>
            <a:r>
              <a:rPr lang="en-US" dirty="0"/>
              <a:t>When AI mediates expression, it may overwrite cultural communication patterns with its training biases. </a:t>
            </a:r>
          </a:p>
          <a:p>
            <a:pPr lvl="1" indent="-171450">
              <a:buFont typeface="Courier New"/>
              <a:buChar char="o"/>
            </a:pPr>
            <a:endParaRPr lang="en-US"/>
          </a:p>
          <a:p>
            <a:r>
              <a:rPr lang="en-US" dirty="0"/>
              <a:t>We're no longer measuring pure patient expression but a co-constructed product shaped by AI's linguistic patterns.</a:t>
            </a:r>
          </a:p>
          <a:p>
            <a:pPr marL="171450" indent="-171450">
              <a:buFont typeface="Arial"/>
              <a:buChar char="•"/>
            </a:pPr>
            <a:endParaRPr lang="en-US"/>
          </a:p>
          <a:p>
            <a:pPr marL="171450" indent="-171450">
              <a:buFont typeface="Arial"/>
              <a:buChar char="•"/>
            </a:pPr>
            <a:endParaRPr lang="en-US"/>
          </a:p>
          <a:p>
            <a:pPr marL="171450" indent="-171450">
              <a:buFont typeface="Arial"/>
              <a:buChar char="•"/>
            </a:pPr>
            <a:endParaRPr lang="en-US"/>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E3C829B2-BA8F-4E75-BBD7-E78A35CB7F70}" type="slidenum">
              <a:rPr lang="en-US" smtClean="0"/>
              <a:t>11</a:t>
            </a:fld>
            <a:endParaRPr lang="en-US"/>
          </a:p>
        </p:txBody>
      </p:sp>
    </p:spTree>
    <p:extLst>
      <p:ext uri="{BB962C8B-B14F-4D97-AF65-F5344CB8AC3E}">
        <p14:creationId xmlns:p14="http://schemas.microsoft.com/office/powerpoint/2010/main" val="26034874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 me synthesize the critical trade-offs we've identified. Each cognitive stage presents a fundamental tension between enhanced capabilities and measurement validity threats.</a:t>
            </a:r>
          </a:p>
          <a:p>
            <a:pPr marL="171450" indent="-171450">
              <a:buFont typeface="Arial"/>
              <a:buChar char="•"/>
            </a:pPr>
            <a:r>
              <a:rPr lang="en-US"/>
              <a:t>We gain accessibility but lose standardization. </a:t>
            </a:r>
          </a:p>
          <a:p>
            <a:pPr marL="171450" indent="-171450">
              <a:buFont typeface="Arial"/>
              <a:buChar char="•"/>
            </a:pPr>
            <a:r>
              <a:rPr lang="en-US"/>
              <a:t>We support memory but risk creating false recollections. </a:t>
            </a:r>
          </a:p>
          <a:p>
            <a:pPr marL="171450" indent="-171450">
              <a:buFont typeface="Arial"/>
              <a:buChar char="•"/>
            </a:pPr>
            <a:r>
              <a:rPr lang="en-US"/>
              <a:t>We improve efficiency but sacrifice patient agency. </a:t>
            </a:r>
          </a:p>
          <a:p>
            <a:pPr marL="171450" indent="-171450">
              <a:buFont typeface="Arial"/>
              <a:buChar char="•"/>
            </a:pPr>
            <a:r>
              <a:rPr lang="en-US"/>
              <a:t>We capture richer data but compromise authentic voice.</a:t>
            </a:r>
          </a:p>
          <a:p>
            <a:endParaRPr lang="en-US"/>
          </a:p>
          <a:p>
            <a:r>
              <a:rPr lang="en-US"/>
              <a:t>These aren't minor technical issues as they challenge core assumptions about what we're measuring and whose perspective we're capturing. </a:t>
            </a:r>
          </a:p>
          <a:p>
            <a:endParaRPr lang="en-US"/>
          </a:p>
          <a:p>
            <a:endParaRPr lang="en-US">
              <a:latin typeface="Aptos"/>
              <a:ea typeface="Calibri"/>
              <a:cs typeface="Calibri"/>
            </a:endParaRPr>
          </a:p>
        </p:txBody>
      </p:sp>
      <p:sp>
        <p:nvSpPr>
          <p:cNvPr id="4" name="Slide Number Placeholder 3"/>
          <p:cNvSpPr>
            <a:spLocks noGrp="1"/>
          </p:cNvSpPr>
          <p:nvPr>
            <p:ph type="sldNum" sz="quarter" idx="5"/>
          </p:nvPr>
        </p:nvSpPr>
        <p:spPr/>
        <p:txBody>
          <a:bodyPr/>
          <a:lstStyle/>
          <a:p>
            <a:fld id="{E3C829B2-BA8F-4E75-BBD7-E78A35CB7F70}" type="slidenum">
              <a:rPr lang="en-US" smtClean="0"/>
              <a:t>12</a:t>
            </a:fld>
            <a:endParaRPr lang="en-US"/>
          </a:p>
        </p:txBody>
      </p:sp>
    </p:spTree>
    <p:extLst>
      <p:ext uri="{BB962C8B-B14F-4D97-AF65-F5344CB8AC3E}">
        <p14:creationId xmlns:p14="http://schemas.microsoft.com/office/powerpoint/2010/main" val="27535447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our analysis, we propose three implementation strategies. </a:t>
            </a:r>
          </a:p>
          <a:p>
            <a:pPr marL="171450" indent="-171450">
              <a:buFont typeface="Arial"/>
              <a:buChar char="•"/>
            </a:pPr>
            <a:r>
              <a:rPr lang="en-US" dirty="0"/>
              <a:t>First, extend measurement theory to account for distributed human-AI cognition. </a:t>
            </a:r>
          </a:p>
          <a:p>
            <a:pPr marL="628650" lvl="1" indent="-171450">
              <a:buFont typeface="Courier New"/>
              <a:buChar char="o"/>
            </a:pPr>
            <a:r>
              <a:rPr lang="en-US" dirty="0"/>
              <a:t>Traditional psychometric models assume single-respondent processing; we need frameworks for hybrid cognitive systems.</a:t>
            </a:r>
          </a:p>
          <a:p>
            <a:pPr indent="-171450">
              <a:buFont typeface="Arial"/>
              <a:buChar char="•"/>
            </a:pPr>
            <a:r>
              <a:rPr lang="en-US" dirty="0"/>
              <a:t>Second, develop hybrid designs combining standardized core items for comparability with AI-enhanced modules for depth. </a:t>
            </a:r>
          </a:p>
          <a:p>
            <a:pPr marL="628650" lvl="1" indent="-171450">
              <a:buFont typeface="Courier New"/>
              <a:buChar char="o"/>
            </a:pPr>
            <a:r>
              <a:rPr lang="en-US" dirty="0"/>
              <a:t>This preserves temporal tracking while enabling personalization.</a:t>
            </a:r>
          </a:p>
          <a:p>
            <a:pPr indent="-171450">
              <a:buFont typeface="Arial"/>
              <a:buChar char="•"/>
            </a:pPr>
            <a:r>
              <a:rPr lang="en-US" dirty="0"/>
              <a:t>Third, conduct extensive validation studies using parallel testing by comparing traditional PROMs with LLM-PROMs in the same populations. </a:t>
            </a:r>
          </a:p>
          <a:p>
            <a:pPr marL="628650" lvl="1" indent="-171450">
              <a:buFont typeface="Courier New"/>
              <a:buChar char="o"/>
            </a:pPr>
            <a:r>
              <a:rPr lang="en-US" dirty="0"/>
              <a:t>We must empirically establish measurement equivalence before widespread deployment.</a:t>
            </a:r>
          </a:p>
          <a:p>
            <a:pPr lvl="1"/>
            <a:endParaRPr lang="en-US"/>
          </a:p>
          <a:p>
            <a:r>
              <a:rPr lang="en-US">
                <a:cs typeface="+mn-lt"/>
              </a:rPr>
              <a:t>We also want to highlight a critical foundation - everything must be built through patient partnership since it is their attitudes and behaviors we aim to measure.</a:t>
            </a:r>
            <a:endParaRPr lang="en-US"/>
          </a:p>
          <a:p>
            <a:br>
              <a:rPr lang="en-US" dirty="0">
                <a:cs typeface="+mn-lt"/>
              </a:rPr>
            </a:br>
            <a:endParaRPr lang="en-US"/>
          </a:p>
        </p:txBody>
      </p:sp>
      <p:sp>
        <p:nvSpPr>
          <p:cNvPr id="4" name="Slide Number Placeholder 3"/>
          <p:cNvSpPr>
            <a:spLocks noGrp="1"/>
          </p:cNvSpPr>
          <p:nvPr>
            <p:ph type="sldNum" sz="quarter" idx="5"/>
          </p:nvPr>
        </p:nvSpPr>
        <p:spPr/>
        <p:txBody>
          <a:bodyPr/>
          <a:lstStyle/>
          <a:p>
            <a:fld id="{E3C829B2-BA8F-4E75-BBD7-E78A35CB7F70}" type="slidenum">
              <a:rPr lang="en-US" smtClean="0"/>
              <a:t>13</a:t>
            </a:fld>
            <a:endParaRPr lang="en-US"/>
          </a:p>
        </p:txBody>
      </p:sp>
    </p:spTree>
    <p:extLst>
      <p:ext uri="{BB962C8B-B14F-4D97-AF65-F5344CB8AC3E}">
        <p14:creationId xmlns:p14="http://schemas.microsoft.com/office/powerpoint/2010/main" val="21128449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want to highlight a critical foundation - everything must be built through patient partnership since it is their attitudes and behaviors we aim to measure.</a:t>
            </a:r>
          </a:p>
          <a:p>
            <a:endParaRPr lang="en-US" dirty="0"/>
          </a:p>
          <a:p>
            <a:r>
              <a:rPr lang="en-US" dirty="0"/>
              <a:t>This means:</a:t>
            </a:r>
          </a:p>
          <a:p>
            <a:pPr marL="171450" indent="-171450">
              <a:buFont typeface="Arial"/>
              <a:buChar char="•"/>
            </a:pPr>
            <a:r>
              <a:rPr lang="en-US" dirty="0"/>
              <a:t>Establishing patient advisory boards with decision-making power. </a:t>
            </a:r>
          </a:p>
          <a:p>
            <a:pPr marL="171450" indent="-171450">
              <a:buFont typeface="Arial"/>
              <a:buChar char="•"/>
            </a:pPr>
            <a:r>
              <a:rPr lang="en-US" dirty="0"/>
              <a:t>Testing with diverse communities to understand differential impacts across populations. </a:t>
            </a:r>
          </a:p>
          <a:p>
            <a:pPr marL="171450" indent="-171450">
              <a:buFont typeface="Arial"/>
              <a:buChar char="•"/>
            </a:pPr>
            <a:r>
              <a:rPr lang="en-US" dirty="0"/>
              <a:t>Creating feedback mechanisms where patients shape how tools evolve. </a:t>
            </a:r>
          </a:p>
          <a:p>
            <a:pPr marL="171450" indent="-171450">
              <a:buFont typeface="Arial"/>
              <a:buChar char="•"/>
            </a:pPr>
            <a:r>
              <a:rPr lang="en-US" dirty="0"/>
              <a:t>And Ensuring transparency about how their responses are processed and interpreted.</a:t>
            </a:r>
          </a:p>
          <a:p>
            <a:pPr marL="171450" indent="-171450">
              <a:buFont typeface="Arial"/>
              <a:buChar char="•"/>
            </a:pPr>
            <a:endParaRPr lang="en-US"/>
          </a:p>
          <a:p>
            <a:r>
              <a:rPr lang="en-US" dirty="0"/>
              <a:t>The goal is to amplify patient voices, not replacing them with AI interpretations. </a:t>
            </a:r>
          </a:p>
          <a:p>
            <a:endParaRPr lang="en-US"/>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E3C829B2-BA8F-4E75-BBD7-E78A35CB7F70}" type="slidenum">
              <a:rPr lang="en-US" smtClean="0"/>
              <a:t>14</a:t>
            </a:fld>
            <a:endParaRPr lang="en-US"/>
          </a:p>
        </p:txBody>
      </p:sp>
    </p:spTree>
    <p:extLst>
      <p:ext uri="{BB962C8B-B14F-4D97-AF65-F5344CB8AC3E}">
        <p14:creationId xmlns:p14="http://schemas.microsoft.com/office/powerpoint/2010/main" val="21276927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2AAA0-172C-864A-1A1C-D1589B318C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EB77CD-2CB4-ACAF-DF3F-1759730083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024A00-6728-2B1F-A6C8-F95433A74F01}"/>
              </a:ext>
            </a:extLst>
          </p:cNvPr>
          <p:cNvSpPr>
            <a:spLocks noGrp="1"/>
          </p:cNvSpPr>
          <p:nvPr>
            <p:ph type="body" idx="1"/>
          </p:nvPr>
        </p:nvSpPr>
        <p:spPr/>
        <p:txBody>
          <a:bodyPr/>
          <a:lstStyle/>
          <a:p>
            <a:r>
              <a:rPr lang="en-US" dirty="0"/>
              <a:t>To conclude, LLM-PROMs represent both tremendous opportunity and fundamental challenge for survey research. </a:t>
            </a:r>
          </a:p>
          <a:p>
            <a:endParaRPr lang="en-US"/>
          </a:p>
          <a:p>
            <a:r>
              <a:rPr lang="en-US" dirty="0"/>
              <a:t>Our analysis reveals that AI transforms every cognitive stage of survey response - this isn't just a new tool but a paradigm shift in measurement.</a:t>
            </a:r>
          </a:p>
          <a:p>
            <a:endParaRPr lang="en-US"/>
          </a:p>
          <a:p>
            <a:r>
              <a:rPr lang="en-US" dirty="0"/>
              <a:t>The benefits are real: enhanced accessibility, richer data, and personalized assessment. </a:t>
            </a:r>
          </a:p>
          <a:p>
            <a:endParaRPr lang="en-US"/>
          </a:p>
          <a:p>
            <a:r>
              <a:rPr lang="en-US" dirty="0"/>
              <a:t>But so are the validity threats: lost standardization, memory contamination, algorithmic interpretation, and hybrid expression.</a:t>
            </a:r>
          </a:p>
          <a:p>
            <a:endParaRPr lang="en-US"/>
          </a:p>
          <a:p>
            <a:r>
              <a:rPr lang="en-US" dirty="0"/>
              <a:t>Success requires more than technical innovation. It demands authentic partnership with patient communities, ensuring we amplify rather than replace their voices. </a:t>
            </a:r>
          </a:p>
          <a:p>
            <a:endParaRPr lang="en-US"/>
          </a:p>
          <a:p>
            <a:r>
              <a:rPr lang="en-US" dirty="0"/>
              <a:t>The question isn't whether to use AI, but how to integrate it responsibly while preserving measurement integrity.</a:t>
            </a:r>
          </a:p>
          <a:p>
            <a:endParaRPr lang="en-US"/>
          </a:p>
        </p:txBody>
      </p:sp>
      <p:sp>
        <p:nvSpPr>
          <p:cNvPr id="4" name="Slide Number Placeholder 3">
            <a:extLst>
              <a:ext uri="{FF2B5EF4-FFF2-40B4-BE49-F238E27FC236}">
                <a16:creationId xmlns:a16="http://schemas.microsoft.com/office/drawing/2014/main" id="{6CCD0F4A-1838-863F-3B84-E4F2A4388556}"/>
              </a:ext>
            </a:extLst>
          </p:cNvPr>
          <p:cNvSpPr>
            <a:spLocks noGrp="1"/>
          </p:cNvSpPr>
          <p:nvPr>
            <p:ph type="sldNum" sz="quarter" idx="5"/>
          </p:nvPr>
        </p:nvSpPr>
        <p:spPr/>
        <p:txBody>
          <a:bodyPr/>
          <a:lstStyle/>
          <a:p>
            <a:fld id="{E3C829B2-BA8F-4E75-BBD7-E78A35CB7F70}" type="slidenum">
              <a:rPr lang="en-US" smtClean="0"/>
              <a:t>15</a:t>
            </a:fld>
            <a:endParaRPr lang="en-US"/>
          </a:p>
        </p:txBody>
      </p:sp>
    </p:spTree>
    <p:extLst>
      <p:ext uri="{BB962C8B-B14F-4D97-AF65-F5344CB8AC3E}">
        <p14:creationId xmlns:p14="http://schemas.microsoft.com/office/powerpoint/2010/main" val="39445461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3C829B2-BA8F-4E75-BBD7-E78A35CB7F70}" type="slidenum">
              <a:rPr lang="en-US" smtClean="0"/>
              <a:t>16</a:t>
            </a:fld>
            <a:endParaRPr lang="en-US"/>
          </a:p>
        </p:txBody>
      </p:sp>
    </p:spTree>
    <p:extLst>
      <p:ext uri="{BB962C8B-B14F-4D97-AF65-F5344CB8AC3E}">
        <p14:creationId xmlns:p14="http://schemas.microsoft.com/office/powerpoint/2010/main" val="14627669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2097C-3D09-E478-D07C-DF6A487024D5}"/>
              </a:ext>
            </a:extLst>
          </p:cNvPr>
          <p:cNvSpPr>
            <a:spLocks noGrp="1"/>
          </p:cNvSpPr>
          <p:nvPr>
            <p:ph type="ctrTitle"/>
          </p:nvPr>
        </p:nvSpPr>
        <p:spPr>
          <a:xfrm>
            <a:off x="399536" y="2797548"/>
            <a:ext cx="9144000" cy="951470"/>
          </a:xfrm>
        </p:spPr>
        <p:txBody>
          <a:bodyPr anchor="b">
            <a:normAutofit/>
          </a:bodyPr>
          <a:lstStyle>
            <a:lvl1pPr algn="l">
              <a:defRPr sz="4800"/>
            </a:lvl1pPr>
          </a:lstStyle>
          <a:p>
            <a:r>
              <a:rPr lang="en-US"/>
              <a:t>Click to edit Master title style</a:t>
            </a:r>
          </a:p>
        </p:txBody>
      </p:sp>
      <p:sp>
        <p:nvSpPr>
          <p:cNvPr id="3" name="Subtitle 2">
            <a:extLst>
              <a:ext uri="{FF2B5EF4-FFF2-40B4-BE49-F238E27FC236}">
                <a16:creationId xmlns:a16="http://schemas.microsoft.com/office/drawing/2014/main" id="{0E194E9B-10D2-8714-4614-B6A19A464E17}"/>
              </a:ext>
            </a:extLst>
          </p:cNvPr>
          <p:cNvSpPr>
            <a:spLocks noGrp="1"/>
          </p:cNvSpPr>
          <p:nvPr>
            <p:ph type="subTitle" idx="1"/>
          </p:nvPr>
        </p:nvSpPr>
        <p:spPr>
          <a:xfrm>
            <a:off x="399536" y="3917092"/>
            <a:ext cx="9144000" cy="2007953"/>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020751704"/>
      </p:ext>
    </p:extLst>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382C3-35FA-8465-39DF-8BD1E8C3B3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1AE54D-FA86-DFA8-B0E9-45DF2F90BD3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39029920"/>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52866-025A-C16E-96CE-44A2883C37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4C87A98-E47F-2B3E-BD02-292DE0E7D4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291274574"/>
      </p:ext>
    </p:extLst>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3891D-EB8F-6673-23E0-7215E2CC61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8047F7-A925-EE68-815E-0E6056EB4D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68214714"/>
      </p:ext>
    </p:extLst>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FC45-B777-00B7-758B-F67142CA20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45F0D4-3AA7-47BF-D333-51F98E3C763A}"/>
              </a:ext>
            </a:extLst>
          </p:cNvPr>
          <p:cNvSpPr>
            <a:spLocks noGrp="1"/>
          </p:cNvSpPr>
          <p:nvPr>
            <p:ph sz="half" idx="1"/>
          </p:nvPr>
        </p:nvSpPr>
        <p:spPr>
          <a:xfrm>
            <a:off x="838200" y="1825625"/>
            <a:ext cx="5181600" cy="33518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D6E416C-3FD2-534A-7586-AE8F7F909E74}"/>
              </a:ext>
            </a:extLst>
          </p:cNvPr>
          <p:cNvSpPr>
            <a:spLocks noGrp="1"/>
          </p:cNvSpPr>
          <p:nvPr>
            <p:ph sz="half" idx="2"/>
          </p:nvPr>
        </p:nvSpPr>
        <p:spPr>
          <a:xfrm>
            <a:off x="6172200" y="1825625"/>
            <a:ext cx="5181600" cy="33518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95335250"/>
      </p:ext>
    </p:extLst>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1BBC6-9978-D6D0-E891-2D9099CC9ED3}"/>
              </a:ext>
            </a:extLst>
          </p:cNvPr>
          <p:cNvSpPr>
            <a:spLocks noGrp="1"/>
          </p:cNvSpPr>
          <p:nvPr>
            <p:ph type="ctrTitle"/>
          </p:nvPr>
        </p:nvSpPr>
        <p:spPr>
          <a:xfrm>
            <a:off x="1524000" y="2273643"/>
            <a:ext cx="9144000" cy="123632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9C92BEE-2EF9-6289-6FB4-A15CCEB35C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047510940"/>
      </p:ext>
    </p:extLst>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5AB75-C6C6-8730-0A4F-C9CF7C06F6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847D0A-96CB-6C1E-6BB5-8E330494115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58123662"/>
      </p:ext>
    </p:extLst>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AAA49-5137-361F-0948-F2742862C1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04CDA77-3F39-266F-115D-F56DB557A54B}"/>
              </a:ext>
            </a:extLst>
          </p:cNvPr>
          <p:cNvSpPr>
            <a:spLocks noGrp="1"/>
          </p:cNvSpPr>
          <p:nvPr>
            <p:ph sz="half" idx="1"/>
          </p:nvPr>
        </p:nvSpPr>
        <p:spPr>
          <a:xfrm>
            <a:off x="838200" y="3571103"/>
            <a:ext cx="5181600" cy="26058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3FE9076-5770-A94F-A247-1541464DB9D5}"/>
              </a:ext>
            </a:extLst>
          </p:cNvPr>
          <p:cNvSpPr>
            <a:spLocks noGrp="1"/>
          </p:cNvSpPr>
          <p:nvPr>
            <p:ph sz="half" idx="2"/>
          </p:nvPr>
        </p:nvSpPr>
        <p:spPr>
          <a:xfrm>
            <a:off x="6172200" y="3571101"/>
            <a:ext cx="5181600" cy="26058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89096857"/>
      </p:ext>
    </p:extLst>
  </p:cSld>
  <p:clrMapOvr>
    <a:masterClrMapping/>
  </p:clrMapOvr>
  <p:hf sldNum="0" hdr="0" dt="0"/>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2.jpe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3.jpeg"/><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 white background with text&#10;&#10;Description automatically generated">
            <a:extLst>
              <a:ext uri="{FF2B5EF4-FFF2-40B4-BE49-F238E27FC236}">
                <a16:creationId xmlns:a16="http://schemas.microsoft.com/office/drawing/2014/main" id="{72B74EAA-11EE-14A8-79D5-BE9AB9A3D1A5}"/>
              </a:ext>
            </a:extLst>
          </p:cNvPr>
          <p:cNvPicPr>
            <a:picLocks noChangeAspect="1"/>
          </p:cNvPicPr>
          <p:nvPr userDrawn="1"/>
        </p:nvPicPr>
        <p:blipFill>
          <a:blip r:embed="rId4"/>
          <a:stretch>
            <a:fill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3BC354F7-C9A5-3073-5FBD-513A7615B3D0}"/>
              </a:ext>
            </a:extLst>
          </p:cNvPr>
          <p:cNvSpPr>
            <a:spLocks noGrp="1"/>
          </p:cNvSpPr>
          <p:nvPr>
            <p:ph type="title"/>
          </p:nvPr>
        </p:nvSpPr>
        <p:spPr>
          <a:xfrm>
            <a:off x="838200" y="2766218"/>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50F659A-9946-2C3D-D5DF-D7CFA4DAC9EF}"/>
              </a:ext>
            </a:extLst>
          </p:cNvPr>
          <p:cNvSpPr>
            <a:spLocks noGrp="1"/>
          </p:cNvSpPr>
          <p:nvPr>
            <p:ph type="body" idx="1"/>
          </p:nvPr>
        </p:nvSpPr>
        <p:spPr>
          <a:xfrm>
            <a:off x="838200" y="4238367"/>
            <a:ext cx="10515600" cy="193859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41998865"/>
      </p:ext>
    </p:extLst>
  </p:cSld>
  <p:clrMap bg1="lt1" tx1="dk1" bg2="lt2" tx2="dk2" accent1="accent1" accent2="accent2" accent3="accent3" accent4="accent4" accent5="accent5" accent6="accent6" hlink="hlink" folHlink="folHlink"/>
  <p:sldLayoutIdLst>
    <p:sldLayoutId id="2147483652" r:id="rId1"/>
    <p:sldLayoutId id="2147483653" r:id="rId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 logo of a university of health&#10;&#10;Description automatically generated">
            <a:extLst>
              <a:ext uri="{FF2B5EF4-FFF2-40B4-BE49-F238E27FC236}">
                <a16:creationId xmlns:a16="http://schemas.microsoft.com/office/drawing/2014/main" id="{41BC641A-CB5A-C790-B88D-92EBE47748FB}"/>
              </a:ext>
            </a:extLst>
          </p:cNvPr>
          <p:cNvPicPr>
            <a:picLocks noChangeAspect="1"/>
          </p:cNvPicPr>
          <p:nvPr userDrawn="1"/>
        </p:nvPicPr>
        <p:blipFill>
          <a:blip r:embed="rId5"/>
          <a:stretch>
            <a:fillRect/>
          </a:stretch>
        </p:blipFill>
        <p:spPr>
          <a:xfrm>
            <a:off x="0" y="0"/>
            <a:ext cx="12201610" cy="6944497"/>
          </a:xfrm>
          <a:prstGeom prst="rect">
            <a:avLst/>
          </a:prstGeom>
        </p:spPr>
      </p:pic>
      <p:sp>
        <p:nvSpPr>
          <p:cNvPr id="2" name="Title Placeholder 1">
            <a:extLst>
              <a:ext uri="{FF2B5EF4-FFF2-40B4-BE49-F238E27FC236}">
                <a16:creationId xmlns:a16="http://schemas.microsoft.com/office/drawing/2014/main" id="{ADA8F8F9-08F9-655C-7656-9B2DB7CAC9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DF8B8DE-4EDD-1669-215E-2B373B7DB03D}"/>
              </a:ext>
            </a:extLst>
          </p:cNvPr>
          <p:cNvSpPr>
            <a:spLocks noGrp="1"/>
          </p:cNvSpPr>
          <p:nvPr>
            <p:ph type="body" idx="1"/>
          </p:nvPr>
        </p:nvSpPr>
        <p:spPr>
          <a:xfrm>
            <a:off x="838200" y="1825625"/>
            <a:ext cx="10515600" cy="296879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37169693"/>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58" r:id="rId3"/>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 white background with black text&#10;&#10;Description automatically generated">
            <a:extLst>
              <a:ext uri="{FF2B5EF4-FFF2-40B4-BE49-F238E27FC236}">
                <a16:creationId xmlns:a16="http://schemas.microsoft.com/office/drawing/2014/main" id="{8DD8D61E-1E20-D29B-93BD-74118C7BF37B}"/>
              </a:ext>
            </a:extLst>
          </p:cNvPr>
          <p:cNvPicPr>
            <a:picLocks noChangeAspect="1"/>
          </p:cNvPicPr>
          <p:nvPr userDrawn="1"/>
        </p:nvPicPr>
        <p:blipFill>
          <a:blip r:embed="rId5"/>
          <a:stretch>
            <a:fill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0F0F079D-88FE-9242-C830-5496D46C4BC5}"/>
              </a:ext>
            </a:extLst>
          </p:cNvPr>
          <p:cNvSpPr>
            <a:spLocks noGrp="1"/>
          </p:cNvSpPr>
          <p:nvPr>
            <p:ph type="title"/>
          </p:nvPr>
        </p:nvSpPr>
        <p:spPr>
          <a:xfrm>
            <a:off x="838200" y="210343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276F7D3-B52F-9F1C-62A7-67718B4C09F1}"/>
              </a:ext>
            </a:extLst>
          </p:cNvPr>
          <p:cNvSpPr>
            <a:spLocks noGrp="1"/>
          </p:cNvSpPr>
          <p:nvPr>
            <p:ph type="body" idx="1"/>
          </p:nvPr>
        </p:nvSpPr>
        <p:spPr>
          <a:xfrm>
            <a:off x="838200" y="3563937"/>
            <a:ext cx="10515600" cy="19555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00879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3" r:id="rId3"/>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043CC8A-4C8B-D795-61C3-C685154D07AA}"/>
              </a:ext>
            </a:extLst>
          </p:cNvPr>
          <p:cNvSpPr/>
          <p:nvPr/>
        </p:nvSpPr>
        <p:spPr>
          <a:xfrm>
            <a:off x="0" y="2070100"/>
            <a:ext cx="12192000" cy="3580079"/>
          </a:xfrm>
          <a:prstGeom prst="rect">
            <a:avLst/>
          </a:prstGeom>
          <a:solidFill>
            <a:schemeClr val="bg1">
              <a:alpha val="6152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25A104-C31D-12CC-9B87-0DAF226AE6CB}"/>
              </a:ext>
            </a:extLst>
          </p:cNvPr>
          <p:cNvSpPr>
            <a:spLocks noGrp="1"/>
          </p:cNvSpPr>
          <p:nvPr>
            <p:ph type="ctrTitle"/>
          </p:nvPr>
        </p:nvSpPr>
        <p:spPr>
          <a:xfrm>
            <a:off x="399536" y="2234521"/>
            <a:ext cx="11298821" cy="1967196"/>
          </a:xfrm>
        </p:spPr>
        <p:txBody>
          <a:bodyPr>
            <a:normAutofit/>
          </a:bodyPr>
          <a:lstStyle/>
          <a:p>
            <a:r>
              <a:rPr lang="en-US" b="1">
                <a:latin typeface="Aptos" panose="020B0004020202020204" pitchFamily="34" charset="0"/>
              </a:rPr>
              <a:t>Cognitive Mind Meets the Artificial: </a:t>
            </a:r>
            <a:br>
              <a:rPr lang="en-US">
                <a:latin typeface="Aptos" panose="020B0004020202020204" pitchFamily="34" charset="0"/>
              </a:rPr>
            </a:br>
            <a:r>
              <a:rPr lang="en-US" sz="3600" i="1">
                <a:latin typeface="Aptos" panose="020B0004020202020204" pitchFamily="34" charset="0"/>
              </a:rPr>
              <a:t>How AI Reshapes Survey Research Through </a:t>
            </a:r>
            <a:br>
              <a:rPr lang="en-US" sz="3600" i="1">
                <a:latin typeface="Aptos" panose="020B0004020202020204" pitchFamily="34" charset="0"/>
              </a:rPr>
            </a:br>
            <a:r>
              <a:rPr lang="en-US" sz="3600" i="1">
                <a:latin typeface="Aptos" panose="020B0004020202020204" pitchFamily="34" charset="0"/>
              </a:rPr>
              <a:t>The Lens of Response Process Theory</a:t>
            </a:r>
            <a:endParaRPr lang="en-US" sz="4000" i="1">
              <a:latin typeface="Aptos" panose="020B0004020202020204" pitchFamily="34" charset="0"/>
            </a:endParaRPr>
          </a:p>
        </p:txBody>
      </p:sp>
      <p:sp>
        <p:nvSpPr>
          <p:cNvPr id="3" name="Subtitle 2">
            <a:extLst>
              <a:ext uri="{FF2B5EF4-FFF2-40B4-BE49-F238E27FC236}">
                <a16:creationId xmlns:a16="http://schemas.microsoft.com/office/drawing/2014/main" id="{AF7CE3BD-04E4-8748-E5D7-E0941C94F82E}"/>
              </a:ext>
            </a:extLst>
          </p:cNvPr>
          <p:cNvSpPr>
            <a:spLocks noGrp="1"/>
          </p:cNvSpPr>
          <p:nvPr>
            <p:ph type="subTitle" idx="1"/>
          </p:nvPr>
        </p:nvSpPr>
        <p:spPr>
          <a:xfrm>
            <a:off x="399537" y="4397627"/>
            <a:ext cx="6155791" cy="2010235"/>
          </a:xfrm>
        </p:spPr>
        <p:txBody>
          <a:bodyPr vert="horz" lIns="91440" tIns="45720" rIns="91440" bIns="45720" rtlCol="0" anchor="t">
            <a:normAutofit lnSpcReduction="10000"/>
          </a:bodyPr>
          <a:lstStyle/>
          <a:p>
            <a:r>
              <a:rPr lang="en-US" sz="3600" b="1" dirty="0">
                <a:solidFill>
                  <a:schemeClr val="bg1">
                    <a:lumMod val="50000"/>
                  </a:schemeClr>
                </a:solidFill>
              </a:rPr>
              <a:t>Kevin Linares M.A.</a:t>
            </a:r>
            <a:endParaRPr lang="en-US" sz="3600" b="1" dirty="0">
              <a:solidFill>
                <a:schemeClr val="bg1">
                  <a:lumMod val="50000"/>
                </a:schemeClr>
              </a:solidFill>
              <a:ea typeface="Calibri"/>
              <a:cs typeface="Calibri"/>
            </a:endParaRPr>
          </a:p>
          <a:p>
            <a:endParaRPr lang="en-US" sz="600" b="1" dirty="0">
              <a:solidFill>
                <a:schemeClr val="bg1">
                  <a:lumMod val="50000"/>
                </a:schemeClr>
              </a:solidFill>
              <a:ea typeface="Calibri"/>
              <a:cs typeface="Calibri"/>
            </a:endParaRPr>
          </a:p>
          <a:p>
            <a:r>
              <a:rPr lang="en-US" sz="2300" b="1" u="sng" dirty="0">
                <a:solidFill>
                  <a:schemeClr val="bg1">
                    <a:lumMod val="50000"/>
                  </a:schemeClr>
                </a:solidFill>
              </a:rPr>
              <a:t>Coauthors</a:t>
            </a:r>
            <a:r>
              <a:rPr lang="en-US" sz="2300" b="1" dirty="0">
                <a:solidFill>
                  <a:schemeClr val="bg1">
                    <a:lumMod val="50000"/>
                  </a:schemeClr>
                </a:solidFill>
              </a:rPr>
              <a:t>: </a:t>
            </a:r>
            <a:endParaRPr lang="en-US" sz="2300" b="1">
              <a:solidFill>
                <a:schemeClr val="bg1">
                  <a:lumMod val="50000"/>
                </a:schemeClr>
              </a:solidFill>
              <a:ea typeface="Calibri"/>
              <a:cs typeface="Calibri"/>
            </a:endParaRPr>
          </a:p>
          <a:p>
            <a:r>
              <a:rPr lang="en-US" sz="2300" b="1">
                <a:solidFill>
                  <a:schemeClr val="bg1">
                    <a:lumMod val="50000"/>
                  </a:schemeClr>
                </a:solidFill>
              </a:rPr>
              <a:t>Rozalina McCoy M.D.,  </a:t>
            </a:r>
            <a:endParaRPr lang="en-US" sz="2300" b="1">
              <a:solidFill>
                <a:schemeClr val="bg1">
                  <a:lumMod val="50000"/>
                </a:schemeClr>
              </a:solidFill>
              <a:ea typeface="Calibri"/>
              <a:cs typeface="Calibri"/>
            </a:endParaRPr>
          </a:p>
          <a:p>
            <a:r>
              <a:rPr lang="en-US" sz="2300" b="1" dirty="0">
                <a:solidFill>
                  <a:schemeClr val="bg1">
                    <a:lumMod val="50000"/>
                  </a:schemeClr>
                </a:solidFill>
              </a:rPr>
              <a:t>Alexandria </a:t>
            </a:r>
            <a:r>
              <a:rPr lang="en-US" sz="2300" b="1" dirty="0" err="1">
                <a:solidFill>
                  <a:schemeClr val="bg1">
                    <a:lumMod val="50000"/>
                  </a:schemeClr>
                </a:solidFill>
              </a:rPr>
              <a:t>Ratzki-Leewing</a:t>
            </a:r>
            <a:r>
              <a:rPr lang="en-US" sz="2300" b="1" dirty="0">
                <a:solidFill>
                  <a:schemeClr val="bg1">
                    <a:lumMod val="50000"/>
                  </a:schemeClr>
                </a:solidFill>
              </a:rPr>
              <a:t> Ph.D. </a:t>
            </a:r>
            <a:r>
              <a:rPr lang="en-US" sz="2300" b="1" dirty="0" err="1">
                <a:solidFill>
                  <a:schemeClr val="bg1">
                    <a:lumMod val="50000"/>
                  </a:schemeClr>
                </a:solidFill>
              </a:rPr>
              <a:t>M.Sc</a:t>
            </a:r>
            <a:endParaRPr lang="en-US" sz="2300" b="1" dirty="0">
              <a:solidFill>
                <a:schemeClr val="bg1">
                  <a:lumMod val="50000"/>
                </a:schemeClr>
              </a:solidFill>
              <a:ea typeface="Calibri"/>
              <a:cs typeface="Calibri"/>
            </a:endParaRPr>
          </a:p>
        </p:txBody>
      </p:sp>
    </p:spTree>
    <p:extLst>
      <p:ext uri="{BB962C8B-B14F-4D97-AF65-F5344CB8AC3E}">
        <p14:creationId xmlns:p14="http://schemas.microsoft.com/office/powerpoint/2010/main" val="2410700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21D33-AFC3-953A-E865-7E5CD23D654C}"/>
              </a:ext>
            </a:extLst>
          </p:cNvPr>
          <p:cNvSpPr>
            <a:spLocks noGrp="1"/>
          </p:cNvSpPr>
          <p:nvPr>
            <p:ph type="title"/>
          </p:nvPr>
        </p:nvSpPr>
        <p:spPr/>
        <p:txBody>
          <a:bodyPr/>
          <a:lstStyle/>
          <a:p>
            <a:r>
              <a:rPr lang="en-US"/>
              <a:t>The Challenge We Face in Health Surveys</a:t>
            </a:r>
          </a:p>
        </p:txBody>
      </p:sp>
      <p:sp>
        <p:nvSpPr>
          <p:cNvPr id="3" name="Content Placeholder 2">
            <a:extLst>
              <a:ext uri="{FF2B5EF4-FFF2-40B4-BE49-F238E27FC236}">
                <a16:creationId xmlns:a16="http://schemas.microsoft.com/office/drawing/2014/main" id="{2744C572-CD0C-E2AF-88C8-A904F8980ABA}"/>
              </a:ext>
            </a:extLst>
          </p:cNvPr>
          <p:cNvSpPr>
            <a:spLocks noGrp="1"/>
          </p:cNvSpPr>
          <p:nvPr>
            <p:ph idx="1"/>
          </p:nvPr>
        </p:nvSpPr>
        <p:spPr>
          <a:xfrm>
            <a:off x="852311" y="1771929"/>
            <a:ext cx="10518044" cy="1151266"/>
          </a:xfrm>
          <a:prstGeom prst="roundRect">
            <a:avLst/>
          </a:prstGeom>
          <a:solidFill>
            <a:schemeClr val="bg1">
              <a:lumMod val="95000"/>
            </a:schemeClr>
          </a:solidFill>
          <a:ln>
            <a:solidFill>
              <a:schemeClr val="tx1">
                <a:lumMod val="50000"/>
                <a:lumOff val="50000"/>
              </a:schemeClr>
            </a:solidFill>
          </a:ln>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noAutofit/>
          </a:bodyPr>
          <a:lstStyle/>
          <a:p>
            <a:pPr marL="0" indent="0" algn="ctr">
              <a:buNone/>
            </a:pPr>
            <a:r>
              <a:rPr lang="en-US">
                <a:solidFill>
                  <a:schemeClr val="tx1"/>
                </a:solidFill>
                <a:latin typeface="Aptos"/>
                <a:ea typeface="+mn-lt"/>
                <a:cs typeface="+mn-lt"/>
              </a:rPr>
              <a:t>…As AI tools…weave their way into survey practice, the need grows to equip researchers with the </a:t>
            </a:r>
            <a:r>
              <a:rPr lang="en-US" b="1">
                <a:solidFill>
                  <a:schemeClr val="tx1"/>
                </a:solidFill>
                <a:latin typeface="Aptos"/>
                <a:ea typeface="+mn-lt"/>
                <a:cs typeface="+mn-lt"/>
              </a:rPr>
              <a:t>theoretical understanding</a:t>
            </a:r>
            <a:r>
              <a:rPr lang="en-US">
                <a:solidFill>
                  <a:schemeClr val="tx1"/>
                </a:solidFill>
                <a:latin typeface="Aptos"/>
                <a:ea typeface="+mn-lt"/>
                <a:cs typeface="+mn-lt"/>
              </a:rPr>
              <a:t>...</a:t>
            </a:r>
            <a:r>
              <a:rPr lang="en-US" baseline="30000">
                <a:solidFill>
                  <a:schemeClr val="tx1"/>
                </a:solidFill>
                <a:latin typeface="Aptos"/>
                <a:ea typeface="+mn-lt"/>
                <a:cs typeface="+mn-lt"/>
              </a:rPr>
              <a:t>1</a:t>
            </a:r>
            <a:endParaRPr lang="en-US" sz="1800">
              <a:solidFill>
                <a:schemeClr val="tx1"/>
              </a:solidFill>
              <a:ea typeface="Calibri"/>
              <a:cs typeface="Calibri"/>
            </a:endParaRPr>
          </a:p>
        </p:txBody>
      </p:sp>
      <p:sp>
        <p:nvSpPr>
          <p:cNvPr id="4" name="TextBox 3">
            <a:extLst>
              <a:ext uri="{FF2B5EF4-FFF2-40B4-BE49-F238E27FC236}">
                <a16:creationId xmlns:a16="http://schemas.microsoft.com/office/drawing/2014/main" id="{2DEC60F6-3F16-6FAC-B74B-AC80F480AFF6}"/>
              </a:ext>
            </a:extLst>
          </p:cNvPr>
          <p:cNvSpPr txBox="1"/>
          <p:nvPr/>
        </p:nvSpPr>
        <p:spPr>
          <a:xfrm>
            <a:off x="1560073" y="3214128"/>
            <a:ext cx="4168648" cy="1938992"/>
          </a:xfrm>
          <a:prstGeom prst="rect">
            <a:avLst/>
          </a:prstGeom>
          <a:solidFill>
            <a:schemeClr val="accent2">
              <a:lumMod val="20000"/>
              <a:lumOff val="80000"/>
            </a:schemeClr>
          </a:solidFill>
          <a:ln>
            <a:solidFill>
              <a:srgbClr val="FF6600"/>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ea typeface="Calibri"/>
                <a:cs typeface="Calibri"/>
              </a:rPr>
              <a:t>Current PROM Limitations</a:t>
            </a:r>
            <a:r>
              <a:rPr lang="en-US" sz="2400" b="1" baseline="30000">
                <a:ea typeface="Calibri"/>
                <a:cs typeface="Calibri"/>
              </a:rPr>
              <a:t>2</a:t>
            </a:r>
            <a:endParaRPr lang="en-US" sz="2400">
              <a:ea typeface="Calibri"/>
              <a:cs typeface="Calibri"/>
            </a:endParaRPr>
          </a:p>
          <a:p>
            <a:pPr marL="285750" indent="-285750">
              <a:buFont typeface="Arial"/>
              <a:buChar char="•"/>
            </a:pPr>
            <a:r>
              <a:rPr lang="en-US" sz="2400">
                <a:ea typeface="Calibri"/>
                <a:cs typeface="Calibri"/>
              </a:rPr>
              <a:t>Rigid Structure</a:t>
            </a:r>
          </a:p>
          <a:p>
            <a:pPr marL="285750" indent="-285750">
              <a:buFont typeface="Arial"/>
              <a:buChar char="•"/>
            </a:pPr>
            <a:r>
              <a:rPr lang="en-US" sz="2400">
                <a:ea typeface="Calibri"/>
                <a:cs typeface="Calibri"/>
              </a:rPr>
              <a:t>Complex medical terminology </a:t>
            </a:r>
          </a:p>
          <a:p>
            <a:pPr marL="285750" indent="-285750">
              <a:buFont typeface="Arial"/>
              <a:buChar char="•"/>
            </a:pPr>
            <a:r>
              <a:rPr lang="en-US" sz="2400">
                <a:ea typeface="Calibri"/>
                <a:cs typeface="Calibri"/>
              </a:rPr>
              <a:t>Forced response choices</a:t>
            </a:r>
          </a:p>
          <a:p>
            <a:pPr marL="285750" indent="-285750">
              <a:buFont typeface="Arial"/>
              <a:buChar char="•"/>
            </a:pPr>
            <a:r>
              <a:rPr lang="en-US" sz="2400">
                <a:ea typeface="Calibri"/>
                <a:cs typeface="Calibri"/>
              </a:rPr>
              <a:t>Post-hoc scoring</a:t>
            </a:r>
          </a:p>
        </p:txBody>
      </p:sp>
      <p:sp>
        <p:nvSpPr>
          <p:cNvPr id="5" name="TextBox 4">
            <a:extLst>
              <a:ext uri="{FF2B5EF4-FFF2-40B4-BE49-F238E27FC236}">
                <a16:creationId xmlns:a16="http://schemas.microsoft.com/office/drawing/2014/main" id="{5AB2A0FB-FBFB-0E69-75A1-8CE7179DCD20}"/>
              </a:ext>
            </a:extLst>
          </p:cNvPr>
          <p:cNvSpPr txBox="1"/>
          <p:nvPr/>
        </p:nvSpPr>
        <p:spPr>
          <a:xfrm>
            <a:off x="6468921" y="3214128"/>
            <a:ext cx="4138716" cy="1938992"/>
          </a:xfrm>
          <a:prstGeom prst="rect">
            <a:avLst/>
          </a:prstGeom>
          <a:solidFill>
            <a:schemeClr val="accent6">
              <a:lumMod val="20000"/>
              <a:lumOff val="80000"/>
            </a:schemeClr>
          </a:solidFill>
          <a:ln>
            <a:solidFill>
              <a:srgbClr val="00B050"/>
            </a:solidFill>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ea typeface="Calibri"/>
                <a:cs typeface="Calibri"/>
              </a:rPr>
              <a:t>What LLM-PROMs Promise</a:t>
            </a:r>
            <a:endParaRPr lang="en-US"/>
          </a:p>
          <a:p>
            <a:pPr marL="285750" indent="-285750">
              <a:buFont typeface="Arial"/>
              <a:buChar char="•"/>
            </a:pPr>
            <a:r>
              <a:rPr lang="en-US" sz="2400">
                <a:ea typeface="Calibri"/>
                <a:cs typeface="Calibri"/>
              </a:rPr>
              <a:t>Adaptive dialogue</a:t>
            </a:r>
          </a:p>
          <a:p>
            <a:pPr marL="285750" indent="-285750">
              <a:buFont typeface="Arial"/>
              <a:buChar char="•"/>
            </a:pPr>
            <a:r>
              <a:rPr lang="en-US" sz="2400">
                <a:ea typeface="Calibri"/>
                <a:cs typeface="Calibri"/>
              </a:rPr>
              <a:t>Plain language clarification</a:t>
            </a:r>
          </a:p>
          <a:p>
            <a:pPr marL="285750" indent="-285750">
              <a:buFont typeface="Arial"/>
              <a:buChar char="•"/>
            </a:pPr>
            <a:r>
              <a:rPr lang="en-US" sz="2400">
                <a:ea typeface="Calibri"/>
                <a:cs typeface="Calibri"/>
              </a:rPr>
              <a:t>Open narrative responses</a:t>
            </a:r>
          </a:p>
          <a:p>
            <a:pPr marL="285750" indent="-285750">
              <a:buFont typeface="Arial"/>
              <a:buChar char="•"/>
            </a:pPr>
            <a:r>
              <a:rPr lang="en-US" sz="2400">
                <a:ea typeface="Calibri"/>
                <a:cs typeface="Calibri"/>
              </a:rPr>
              <a:t>Real-time Insights</a:t>
            </a:r>
          </a:p>
        </p:txBody>
      </p:sp>
      <p:sp>
        <p:nvSpPr>
          <p:cNvPr id="6" name="TextBox 5">
            <a:extLst>
              <a:ext uri="{FF2B5EF4-FFF2-40B4-BE49-F238E27FC236}">
                <a16:creationId xmlns:a16="http://schemas.microsoft.com/office/drawing/2014/main" id="{829F85C0-E016-BD98-E071-23742B3801C4}"/>
              </a:ext>
            </a:extLst>
          </p:cNvPr>
          <p:cNvSpPr txBox="1"/>
          <p:nvPr/>
        </p:nvSpPr>
        <p:spPr>
          <a:xfrm>
            <a:off x="90311" y="6355644"/>
            <a:ext cx="7721599" cy="4154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latin typeface="Aptos"/>
              </a:rPr>
              <a:t>LLM, large language models; PROM, patient-reported outcome measure. 1. </a:t>
            </a:r>
            <a:r>
              <a:rPr lang="en-US" sz="1050" err="1">
                <a:latin typeface="Aptos"/>
              </a:rPr>
              <a:t>Barari</a:t>
            </a:r>
            <a:r>
              <a:rPr lang="en-US" sz="1050">
                <a:latin typeface="Aptos"/>
              </a:rPr>
              <a:t> et al., AAPOR Newsletter 2024</a:t>
            </a:r>
            <a:r>
              <a:rPr lang="en-US" sz="1050">
                <a:latin typeface="Aptos"/>
                <a:ea typeface="Calibri"/>
                <a:cs typeface="Calibri"/>
              </a:rPr>
              <a:t>.​ </a:t>
            </a:r>
            <a:br>
              <a:rPr lang="en-US" sz="1050">
                <a:latin typeface="Aptos"/>
                <a:ea typeface="Calibri"/>
                <a:cs typeface="Calibri"/>
              </a:rPr>
            </a:br>
            <a:r>
              <a:rPr lang="en-US" sz="1050">
                <a:latin typeface="Aptos"/>
                <a:ea typeface="Calibri"/>
                <a:cs typeface="Calibri"/>
              </a:rPr>
              <a:t>2. </a:t>
            </a:r>
            <a:r>
              <a:rPr lang="en-US" sz="1050" err="1">
                <a:latin typeface="Aptos"/>
                <a:ea typeface="Calibri"/>
                <a:cs typeface="Calibri"/>
              </a:rPr>
              <a:t>Terheyden</a:t>
            </a:r>
            <a:r>
              <a:rPr lang="en-US" sz="1050">
                <a:latin typeface="Aptos"/>
                <a:ea typeface="Calibri"/>
                <a:cs typeface="Calibri"/>
              </a:rPr>
              <a:t> et al. 2025.</a:t>
            </a:r>
          </a:p>
        </p:txBody>
      </p:sp>
    </p:spTree>
    <p:extLst>
      <p:ext uri="{BB962C8B-B14F-4D97-AF65-F5344CB8AC3E}">
        <p14:creationId xmlns:p14="http://schemas.microsoft.com/office/powerpoint/2010/main" val="1236279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65A1C-E69E-0D59-0B89-77A6D6DEEDD1}"/>
              </a:ext>
            </a:extLst>
          </p:cNvPr>
          <p:cNvSpPr>
            <a:spLocks noGrp="1"/>
          </p:cNvSpPr>
          <p:nvPr>
            <p:ph type="ctrTitle"/>
          </p:nvPr>
        </p:nvSpPr>
        <p:spPr>
          <a:xfrm>
            <a:off x="526143" y="297840"/>
            <a:ext cx="10580914" cy="919017"/>
          </a:xfrm>
        </p:spPr>
        <p:txBody>
          <a:bodyPr>
            <a:normAutofit/>
          </a:bodyPr>
          <a:lstStyle/>
          <a:p>
            <a:pPr algn="l"/>
            <a:r>
              <a:rPr lang="en-US" sz="4400"/>
              <a:t>Learning Objectives</a:t>
            </a:r>
          </a:p>
        </p:txBody>
      </p:sp>
      <p:grpSp>
        <p:nvGrpSpPr>
          <p:cNvPr id="8" name="Group 7">
            <a:extLst>
              <a:ext uri="{FF2B5EF4-FFF2-40B4-BE49-F238E27FC236}">
                <a16:creationId xmlns:a16="http://schemas.microsoft.com/office/drawing/2014/main" id="{E9D442A2-835C-8423-2D44-181872C9178B}"/>
              </a:ext>
            </a:extLst>
          </p:cNvPr>
          <p:cNvGrpSpPr/>
          <p:nvPr/>
        </p:nvGrpSpPr>
        <p:grpSpPr>
          <a:xfrm>
            <a:off x="657412" y="1743137"/>
            <a:ext cx="9988304" cy="740067"/>
            <a:chOff x="527922" y="1922431"/>
            <a:chExt cx="9988304" cy="740067"/>
          </a:xfrm>
        </p:grpSpPr>
        <p:sp>
          <p:nvSpPr>
            <p:cNvPr id="24" name="TextBox 23">
              <a:extLst>
                <a:ext uri="{FF2B5EF4-FFF2-40B4-BE49-F238E27FC236}">
                  <a16:creationId xmlns:a16="http://schemas.microsoft.com/office/drawing/2014/main" id="{FE18CA39-48C0-BA73-392D-3E955A843FEA}"/>
                </a:ext>
              </a:extLst>
            </p:cNvPr>
            <p:cNvSpPr txBox="1"/>
            <p:nvPr/>
          </p:nvSpPr>
          <p:spPr>
            <a:xfrm>
              <a:off x="1335139" y="2033479"/>
              <a:ext cx="9181087" cy="523220"/>
            </a:xfrm>
            <a:prstGeom prst="rect">
              <a:avLst/>
            </a:prstGeom>
            <a:solidFill>
              <a:schemeClr val="bg1"/>
            </a:solidFill>
            <a:ln>
              <a:solidFill>
                <a:schemeClr val="bg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rgbClr val="0070C0"/>
                  </a:solidFill>
                  <a:ea typeface="+mn-lt"/>
                  <a:cs typeface="+mn-lt"/>
                </a:rPr>
                <a:t>Explore </a:t>
              </a:r>
              <a:r>
                <a:rPr lang="en-US" sz="2800">
                  <a:ea typeface="+mn-lt"/>
                  <a:cs typeface="+mn-lt"/>
                </a:rPr>
                <a:t>LLMs applied in survey research</a:t>
              </a:r>
            </a:p>
          </p:txBody>
        </p:sp>
        <p:sp>
          <p:nvSpPr>
            <p:cNvPr id="5" name="Oval 4">
              <a:extLst>
                <a:ext uri="{FF2B5EF4-FFF2-40B4-BE49-F238E27FC236}">
                  <a16:creationId xmlns:a16="http://schemas.microsoft.com/office/drawing/2014/main" id="{77381949-F52F-6935-A3E3-57344DDFBE9E}"/>
                </a:ext>
              </a:extLst>
            </p:cNvPr>
            <p:cNvSpPr/>
            <p:nvPr/>
          </p:nvSpPr>
          <p:spPr>
            <a:xfrm>
              <a:off x="527922" y="1922431"/>
              <a:ext cx="737099" cy="740067"/>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ea typeface="Calibri"/>
                  <a:cs typeface="Calibri"/>
                </a:rPr>
                <a:t>1</a:t>
              </a:r>
            </a:p>
          </p:txBody>
        </p:sp>
      </p:grpSp>
      <p:grpSp>
        <p:nvGrpSpPr>
          <p:cNvPr id="9" name="Group 8">
            <a:extLst>
              <a:ext uri="{FF2B5EF4-FFF2-40B4-BE49-F238E27FC236}">
                <a16:creationId xmlns:a16="http://schemas.microsoft.com/office/drawing/2014/main" id="{BD8B3280-DC2D-F4A4-C363-77CCB011DD08}"/>
              </a:ext>
            </a:extLst>
          </p:cNvPr>
          <p:cNvGrpSpPr/>
          <p:nvPr/>
        </p:nvGrpSpPr>
        <p:grpSpPr>
          <a:xfrm>
            <a:off x="657412" y="2843803"/>
            <a:ext cx="11483322" cy="740067"/>
            <a:chOff x="527922" y="3023097"/>
            <a:chExt cx="11483322" cy="740067"/>
          </a:xfrm>
        </p:grpSpPr>
        <p:sp>
          <p:nvSpPr>
            <p:cNvPr id="3" name="TextBox 2">
              <a:extLst>
                <a:ext uri="{FF2B5EF4-FFF2-40B4-BE49-F238E27FC236}">
                  <a16:creationId xmlns:a16="http://schemas.microsoft.com/office/drawing/2014/main" id="{1B170EAA-6818-99AD-821D-04A05C966DAE}"/>
                </a:ext>
              </a:extLst>
            </p:cNvPr>
            <p:cNvSpPr txBox="1"/>
            <p:nvPr/>
          </p:nvSpPr>
          <p:spPr>
            <a:xfrm>
              <a:off x="1330287" y="3132426"/>
              <a:ext cx="10680957" cy="523220"/>
            </a:xfrm>
            <a:prstGeom prst="rect">
              <a:avLst/>
            </a:prstGeom>
            <a:solidFill>
              <a:schemeClr val="bg1"/>
            </a:solidFill>
            <a:ln>
              <a:solidFill>
                <a:schemeClr val="bg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rgbClr val="0070C0"/>
                  </a:solidFill>
                  <a:ea typeface="+mn-lt"/>
                  <a:cs typeface="+mn-lt"/>
                </a:rPr>
                <a:t>Analyze </a:t>
              </a:r>
              <a:r>
                <a:rPr lang="en-US" sz="2800">
                  <a:ea typeface="+mn-lt"/>
                  <a:cs typeface="+mn-lt"/>
                </a:rPr>
                <a:t>LLM-PROMs through Tourangeau's four-stage framework lens</a:t>
              </a:r>
              <a:endParaRPr lang="en-US" sz="2800">
                <a:ea typeface="Calibri"/>
                <a:cs typeface="Calibri"/>
              </a:endParaRPr>
            </a:p>
          </p:txBody>
        </p:sp>
        <p:sp>
          <p:nvSpPr>
            <p:cNvPr id="6" name="Oval 5">
              <a:extLst>
                <a:ext uri="{FF2B5EF4-FFF2-40B4-BE49-F238E27FC236}">
                  <a16:creationId xmlns:a16="http://schemas.microsoft.com/office/drawing/2014/main" id="{4CD1F869-6CF4-8E77-B85D-A1DC7809216B}"/>
                </a:ext>
              </a:extLst>
            </p:cNvPr>
            <p:cNvSpPr/>
            <p:nvPr/>
          </p:nvSpPr>
          <p:spPr>
            <a:xfrm>
              <a:off x="527922" y="3023097"/>
              <a:ext cx="737099" cy="740067"/>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a:ea typeface="Calibri"/>
                  <a:cs typeface="Calibri"/>
                </a:rPr>
                <a:t>2</a:t>
              </a:r>
            </a:p>
          </p:txBody>
        </p:sp>
      </p:grpSp>
      <p:grpSp>
        <p:nvGrpSpPr>
          <p:cNvPr id="10" name="Group 9">
            <a:extLst>
              <a:ext uri="{FF2B5EF4-FFF2-40B4-BE49-F238E27FC236}">
                <a16:creationId xmlns:a16="http://schemas.microsoft.com/office/drawing/2014/main" id="{9033DFFB-ACC1-6835-CF17-76FAE2710D24}"/>
              </a:ext>
            </a:extLst>
          </p:cNvPr>
          <p:cNvGrpSpPr/>
          <p:nvPr/>
        </p:nvGrpSpPr>
        <p:grpSpPr>
          <a:xfrm>
            <a:off x="657411" y="3944470"/>
            <a:ext cx="9977573" cy="740067"/>
            <a:chOff x="527921" y="4123764"/>
            <a:chExt cx="9977573" cy="740067"/>
          </a:xfrm>
        </p:grpSpPr>
        <p:sp>
          <p:nvSpPr>
            <p:cNvPr id="4" name="TextBox 3">
              <a:extLst>
                <a:ext uri="{FF2B5EF4-FFF2-40B4-BE49-F238E27FC236}">
                  <a16:creationId xmlns:a16="http://schemas.microsoft.com/office/drawing/2014/main" id="{F55993EF-81F1-69DE-6648-27D407236C30}"/>
                </a:ext>
              </a:extLst>
            </p:cNvPr>
            <p:cNvSpPr txBox="1"/>
            <p:nvPr/>
          </p:nvSpPr>
          <p:spPr>
            <a:xfrm>
              <a:off x="1335138" y="4230949"/>
              <a:ext cx="9170356" cy="523220"/>
            </a:xfrm>
            <a:prstGeom prst="rect">
              <a:avLst/>
            </a:prstGeom>
            <a:solidFill>
              <a:schemeClr val="bg1"/>
            </a:solidFill>
            <a:ln>
              <a:solidFill>
                <a:schemeClr val="bg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solidFill>
                    <a:srgbClr val="0070C0"/>
                  </a:solidFill>
                  <a:ea typeface="Calibri"/>
                  <a:cs typeface="Calibri"/>
                </a:rPr>
                <a:t>Synthesize</a:t>
              </a:r>
              <a:r>
                <a:rPr lang="en-US" sz="2800" dirty="0">
                  <a:solidFill>
                    <a:srgbClr val="0070C0"/>
                  </a:solidFill>
                  <a:ea typeface="Calibri"/>
                  <a:cs typeface="Calibri"/>
                </a:rPr>
                <a:t> </a:t>
              </a:r>
              <a:r>
                <a:rPr lang="en-US" sz="2800" dirty="0">
                  <a:solidFill>
                    <a:schemeClr val="tx1"/>
                  </a:solidFill>
                  <a:ea typeface="Calibri"/>
                  <a:cs typeface="Calibri"/>
                </a:rPr>
                <a:t>i</a:t>
              </a:r>
              <a:r>
                <a:rPr lang="en-US" sz="2800" dirty="0">
                  <a:ea typeface="Calibri"/>
                  <a:cs typeface="Calibri"/>
                </a:rPr>
                <a:t>mplications and practitioner recommendations</a:t>
              </a:r>
            </a:p>
          </p:txBody>
        </p:sp>
        <p:sp>
          <p:nvSpPr>
            <p:cNvPr id="7" name="Oval 6">
              <a:extLst>
                <a:ext uri="{FF2B5EF4-FFF2-40B4-BE49-F238E27FC236}">
                  <a16:creationId xmlns:a16="http://schemas.microsoft.com/office/drawing/2014/main" id="{553053C7-33B6-7E45-D143-2E235EB4CBCF}"/>
                </a:ext>
              </a:extLst>
            </p:cNvPr>
            <p:cNvSpPr/>
            <p:nvPr/>
          </p:nvSpPr>
          <p:spPr>
            <a:xfrm>
              <a:off x="527921" y="4123764"/>
              <a:ext cx="737099" cy="740067"/>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a:ea typeface="Calibri"/>
                  <a:cs typeface="Calibri"/>
                </a:rPr>
                <a:t>3</a:t>
              </a:r>
            </a:p>
          </p:txBody>
        </p:sp>
      </p:grpSp>
    </p:spTree>
    <p:extLst>
      <p:ext uri="{BB962C8B-B14F-4D97-AF65-F5344CB8AC3E}">
        <p14:creationId xmlns:p14="http://schemas.microsoft.com/office/powerpoint/2010/main" val="4041122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F12EE-900D-D4DE-2117-6DA440F4A7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B61F5A-3A66-4E40-65B4-9D59F1F716B0}"/>
              </a:ext>
            </a:extLst>
          </p:cNvPr>
          <p:cNvSpPr>
            <a:spLocks noGrp="1"/>
          </p:cNvSpPr>
          <p:nvPr>
            <p:ph type="ctrTitle"/>
          </p:nvPr>
        </p:nvSpPr>
        <p:spPr>
          <a:xfrm>
            <a:off x="526143" y="297840"/>
            <a:ext cx="10580914" cy="919017"/>
          </a:xfrm>
        </p:spPr>
        <p:txBody>
          <a:bodyPr>
            <a:normAutofit/>
          </a:bodyPr>
          <a:lstStyle/>
          <a:p>
            <a:pPr algn="l"/>
            <a:r>
              <a:rPr lang="en-US" sz="4400"/>
              <a:t>What are Large Language Models? </a:t>
            </a:r>
          </a:p>
        </p:txBody>
      </p:sp>
      <p:sp>
        <p:nvSpPr>
          <p:cNvPr id="7" name="Circular Arrow 6">
            <a:extLst>
              <a:ext uri="{FF2B5EF4-FFF2-40B4-BE49-F238E27FC236}">
                <a16:creationId xmlns:a16="http://schemas.microsoft.com/office/drawing/2014/main" id="{4EB685BF-EF01-CE10-B598-D727AA91DC71}"/>
              </a:ext>
            </a:extLst>
          </p:cNvPr>
          <p:cNvSpPr/>
          <p:nvPr/>
        </p:nvSpPr>
        <p:spPr>
          <a:xfrm rot="16200000">
            <a:off x="2933793" y="1211843"/>
            <a:ext cx="3817495" cy="3856925"/>
          </a:xfrm>
          <a:prstGeom prst="circularArrow">
            <a:avLst>
              <a:gd name="adj1" fmla="val 11489"/>
              <a:gd name="adj2" fmla="val 1142322"/>
              <a:gd name="adj3" fmla="val 4536380"/>
              <a:gd name="adj4" fmla="val 10341638"/>
              <a:gd name="adj5" fmla="val 12500"/>
            </a:avLst>
          </a:prstGeom>
          <a:solidFill>
            <a:srgbClr val="00B0F0">
              <a:alpha val="67000"/>
            </a:srgb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sz="2400"/>
          </a:p>
        </p:txBody>
      </p:sp>
      <p:sp>
        <p:nvSpPr>
          <p:cNvPr id="8" name="Freeform 7">
            <a:extLst>
              <a:ext uri="{FF2B5EF4-FFF2-40B4-BE49-F238E27FC236}">
                <a16:creationId xmlns:a16="http://schemas.microsoft.com/office/drawing/2014/main" id="{0ED8121C-6E97-8E72-13F5-193F219B47F2}"/>
              </a:ext>
            </a:extLst>
          </p:cNvPr>
          <p:cNvSpPr/>
          <p:nvPr/>
        </p:nvSpPr>
        <p:spPr>
          <a:xfrm>
            <a:off x="3794156" y="2636131"/>
            <a:ext cx="2012496" cy="1006006"/>
          </a:xfrm>
          <a:custGeom>
            <a:avLst/>
            <a:gdLst>
              <a:gd name="connsiteX0" fmla="*/ 0 w 1264233"/>
              <a:gd name="connsiteY0" fmla="*/ 0 h 631965"/>
              <a:gd name="connsiteX1" fmla="*/ 1264233 w 1264233"/>
              <a:gd name="connsiteY1" fmla="*/ 0 h 631965"/>
              <a:gd name="connsiteX2" fmla="*/ 1264233 w 1264233"/>
              <a:gd name="connsiteY2" fmla="*/ 631965 h 631965"/>
              <a:gd name="connsiteX3" fmla="*/ 0 w 1264233"/>
              <a:gd name="connsiteY3" fmla="*/ 631965 h 631965"/>
              <a:gd name="connsiteX4" fmla="*/ 0 w 1264233"/>
              <a:gd name="connsiteY4" fmla="*/ 0 h 631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4233" h="631965">
                <a:moveTo>
                  <a:pt x="0" y="0"/>
                </a:moveTo>
                <a:lnTo>
                  <a:pt x="1264233" y="0"/>
                </a:lnTo>
                <a:lnTo>
                  <a:pt x="1264233" y="631965"/>
                </a:lnTo>
                <a:lnTo>
                  <a:pt x="0" y="63196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2400" b="1" kern="1200">
                <a:latin typeface="Aptos" panose="020B0004020202020204" pitchFamily="34" charset="0"/>
              </a:rPr>
              <a:t>Input, </a:t>
            </a:r>
            <a:br>
              <a:rPr lang="en-US" sz="2400" b="1" kern="1200">
                <a:latin typeface="Aptos" panose="020B0004020202020204" pitchFamily="34" charset="0"/>
              </a:rPr>
            </a:br>
            <a:r>
              <a:rPr lang="en-US" sz="2400" b="1" kern="1200">
                <a:latin typeface="Aptos" panose="020B0004020202020204" pitchFamily="34" charset="0"/>
              </a:rPr>
              <a:t>Human Prompt</a:t>
            </a:r>
          </a:p>
        </p:txBody>
      </p:sp>
      <p:sp>
        <p:nvSpPr>
          <p:cNvPr id="10" name="Freeform 9">
            <a:extLst>
              <a:ext uri="{FF2B5EF4-FFF2-40B4-BE49-F238E27FC236}">
                <a16:creationId xmlns:a16="http://schemas.microsoft.com/office/drawing/2014/main" id="{0B4A0B27-F9F9-091D-6EE4-05F50917DEAC}"/>
              </a:ext>
            </a:extLst>
          </p:cNvPr>
          <p:cNvSpPr/>
          <p:nvPr/>
        </p:nvSpPr>
        <p:spPr>
          <a:xfrm>
            <a:off x="6037764" y="3262672"/>
            <a:ext cx="2012496" cy="1006007"/>
          </a:xfrm>
          <a:custGeom>
            <a:avLst/>
            <a:gdLst>
              <a:gd name="connsiteX0" fmla="*/ 0 w 1264233"/>
              <a:gd name="connsiteY0" fmla="*/ 0 h 631965"/>
              <a:gd name="connsiteX1" fmla="*/ 1264233 w 1264233"/>
              <a:gd name="connsiteY1" fmla="*/ 0 h 631965"/>
              <a:gd name="connsiteX2" fmla="*/ 1264233 w 1264233"/>
              <a:gd name="connsiteY2" fmla="*/ 631965 h 631965"/>
              <a:gd name="connsiteX3" fmla="*/ 0 w 1264233"/>
              <a:gd name="connsiteY3" fmla="*/ 631965 h 631965"/>
              <a:gd name="connsiteX4" fmla="*/ 0 w 1264233"/>
              <a:gd name="connsiteY4" fmla="*/ 0 h 631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4233" h="631965">
                <a:moveTo>
                  <a:pt x="0" y="0"/>
                </a:moveTo>
                <a:lnTo>
                  <a:pt x="1264233" y="0"/>
                </a:lnTo>
                <a:lnTo>
                  <a:pt x="1264233" y="631965"/>
                </a:lnTo>
                <a:lnTo>
                  <a:pt x="0" y="63196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2400" b="1" kern="1200">
                <a:latin typeface="Aptos" panose="020B0004020202020204" pitchFamily="34" charset="0"/>
              </a:rPr>
              <a:t>LLM Processing</a:t>
            </a:r>
          </a:p>
        </p:txBody>
      </p:sp>
      <p:sp>
        <p:nvSpPr>
          <p:cNvPr id="12" name="Freeform 11">
            <a:extLst>
              <a:ext uri="{FF2B5EF4-FFF2-40B4-BE49-F238E27FC236}">
                <a16:creationId xmlns:a16="http://schemas.microsoft.com/office/drawing/2014/main" id="{8831B98C-E541-B8CD-A8D3-8A8DB8275061}"/>
              </a:ext>
            </a:extLst>
          </p:cNvPr>
          <p:cNvSpPr/>
          <p:nvPr/>
        </p:nvSpPr>
        <p:spPr>
          <a:xfrm>
            <a:off x="8527028" y="2636130"/>
            <a:ext cx="2012496" cy="1006007"/>
          </a:xfrm>
          <a:custGeom>
            <a:avLst/>
            <a:gdLst>
              <a:gd name="connsiteX0" fmla="*/ 0 w 1264233"/>
              <a:gd name="connsiteY0" fmla="*/ 0 h 631965"/>
              <a:gd name="connsiteX1" fmla="*/ 1264233 w 1264233"/>
              <a:gd name="connsiteY1" fmla="*/ 0 h 631965"/>
              <a:gd name="connsiteX2" fmla="*/ 1264233 w 1264233"/>
              <a:gd name="connsiteY2" fmla="*/ 631965 h 631965"/>
              <a:gd name="connsiteX3" fmla="*/ 0 w 1264233"/>
              <a:gd name="connsiteY3" fmla="*/ 631965 h 631965"/>
              <a:gd name="connsiteX4" fmla="*/ 0 w 1264233"/>
              <a:gd name="connsiteY4" fmla="*/ 0 h 631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4233" h="631965">
                <a:moveTo>
                  <a:pt x="0" y="0"/>
                </a:moveTo>
                <a:lnTo>
                  <a:pt x="1264233" y="0"/>
                </a:lnTo>
                <a:lnTo>
                  <a:pt x="1264233" y="631965"/>
                </a:lnTo>
                <a:lnTo>
                  <a:pt x="0" y="63196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2400" b="1" kern="1200">
                <a:latin typeface="Aptos" panose="020B0004020202020204" pitchFamily="34" charset="0"/>
              </a:rPr>
              <a:t>Output, Human-Like Text</a:t>
            </a:r>
          </a:p>
        </p:txBody>
      </p:sp>
      <p:sp>
        <p:nvSpPr>
          <p:cNvPr id="21" name="TextBox 20">
            <a:extLst>
              <a:ext uri="{FF2B5EF4-FFF2-40B4-BE49-F238E27FC236}">
                <a16:creationId xmlns:a16="http://schemas.microsoft.com/office/drawing/2014/main" id="{6F8977B3-2433-F7AB-E4F7-9C7AE2F1B0CA}"/>
              </a:ext>
            </a:extLst>
          </p:cNvPr>
          <p:cNvSpPr txBox="1"/>
          <p:nvPr/>
        </p:nvSpPr>
        <p:spPr>
          <a:xfrm>
            <a:off x="850010" y="2850493"/>
            <a:ext cx="2029676" cy="1569660"/>
          </a:xfrm>
          <a:prstGeom prst="rect">
            <a:avLst/>
          </a:prstGeom>
          <a:noFill/>
        </p:spPr>
        <p:txBody>
          <a:bodyPr wrap="square" rtlCol="0">
            <a:spAutoFit/>
          </a:bodyPr>
          <a:lstStyle/>
          <a:p>
            <a:r>
              <a:rPr lang="en-US" sz="3200"/>
              <a:t>Deep learning system</a:t>
            </a:r>
          </a:p>
        </p:txBody>
      </p:sp>
      <p:sp>
        <p:nvSpPr>
          <p:cNvPr id="22" name="Left Brace 21">
            <a:extLst>
              <a:ext uri="{FF2B5EF4-FFF2-40B4-BE49-F238E27FC236}">
                <a16:creationId xmlns:a16="http://schemas.microsoft.com/office/drawing/2014/main" id="{B060F8A9-D247-97AC-A331-D72F1388F071}"/>
              </a:ext>
            </a:extLst>
          </p:cNvPr>
          <p:cNvSpPr/>
          <p:nvPr/>
        </p:nvSpPr>
        <p:spPr>
          <a:xfrm>
            <a:off x="2438595" y="1494946"/>
            <a:ext cx="878793" cy="4321653"/>
          </a:xfrm>
          <a:prstGeom prst="lef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Circular Arrow 22">
            <a:extLst>
              <a:ext uri="{FF2B5EF4-FFF2-40B4-BE49-F238E27FC236}">
                <a16:creationId xmlns:a16="http://schemas.microsoft.com/office/drawing/2014/main" id="{A8D1CF99-B2E1-A0C0-9E12-C96F53231F5F}"/>
              </a:ext>
            </a:extLst>
          </p:cNvPr>
          <p:cNvSpPr/>
          <p:nvPr/>
        </p:nvSpPr>
        <p:spPr>
          <a:xfrm rot="2330547" flipV="1">
            <a:off x="5104853" y="2265644"/>
            <a:ext cx="3817495" cy="3856925"/>
          </a:xfrm>
          <a:prstGeom prst="circularArrow">
            <a:avLst>
              <a:gd name="adj1" fmla="val 11489"/>
              <a:gd name="adj2" fmla="val 1142322"/>
              <a:gd name="adj3" fmla="val 4536380"/>
              <a:gd name="adj4" fmla="val 10341638"/>
              <a:gd name="adj5" fmla="val 12500"/>
            </a:avLst>
          </a:prstGeom>
          <a:solidFill>
            <a:srgbClr val="008CC6">
              <a:alpha val="67059"/>
            </a:srgb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sz="2400"/>
          </a:p>
        </p:txBody>
      </p:sp>
      <p:sp>
        <p:nvSpPr>
          <p:cNvPr id="24" name="Circular Arrow 23">
            <a:extLst>
              <a:ext uri="{FF2B5EF4-FFF2-40B4-BE49-F238E27FC236}">
                <a16:creationId xmlns:a16="http://schemas.microsoft.com/office/drawing/2014/main" id="{DE0D3EE6-ADD5-D1AA-FAD0-A12B4A95537A}"/>
              </a:ext>
            </a:extLst>
          </p:cNvPr>
          <p:cNvSpPr/>
          <p:nvPr/>
        </p:nvSpPr>
        <p:spPr>
          <a:xfrm rot="15961985" flipV="1">
            <a:off x="7819736" y="1498160"/>
            <a:ext cx="3302151" cy="3305186"/>
          </a:xfrm>
          <a:custGeom>
            <a:avLst/>
            <a:gdLst>
              <a:gd name="connsiteX0" fmla="*/ 272204 w 3817495"/>
              <a:gd name="connsiteY0" fmla="*/ 2147969 h 3856925"/>
              <a:gd name="connsiteX1" fmla="*/ 1646626 w 3817495"/>
              <a:gd name="connsiteY1" fmla="*/ 279084 h 3856925"/>
              <a:gd name="connsiteX2" fmla="*/ 3533000 w 3817495"/>
              <a:gd name="connsiteY2" fmla="*/ 1629751 h 3856925"/>
              <a:gd name="connsiteX3" fmla="*/ 2250526 w 3817495"/>
              <a:gd name="connsiteY3" fmla="*/ 3562842 h 3856925"/>
              <a:gd name="connsiteX4" fmla="*/ 2230557 w 3817495"/>
              <a:gd name="connsiteY4" fmla="*/ 3808600 h 3856925"/>
              <a:gd name="connsiteX5" fmla="*/ 1791230 w 3817495"/>
              <a:gd name="connsiteY5" fmla="*/ 3374840 h 3856925"/>
              <a:gd name="connsiteX6" fmla="*/ 2307845 w 3817495"/>
              <a:gd name="connsiteY6" fmla="*/ 2857361 h 3856925"/>
              <a:gd name="connsiteX7" fmla="*/ 2288251 w 3817495"/>
              <a:gd name="connsiteY7" fmla="*/ 3098517 h 3856925"/>
              <a:gd name="connsiteX8" fmla="*/ 3083431 w 3817495"/>
              <a:gd name="connsiteY8" fmla="*/ 1624085 h 3856925"/>
              <a:gd name="connsiteX9" fmla="*/ 1672066 w 3817495"/>
              <a:gd name="connsiteY9" fmla="*/ 720190 h 3856925"/>
              <a:gd name="connsiteX10" fmla="*/ 706905 w 3817495"/>
              <a:gd name="connsiteY10" fmla="*/ 2089662 h 3856925"/>
              <a:gd name="connsiteX11" fmla="*/ 272204 w 3817495"/>
              <a:gd name="connsiteY11" fmla="*/ 2147969 h 3856925"/>
              <a:gd name="connsiteX0" fmla="*/ 14488 w 3302151"/>
              <a:gd name="connsiteY0" fmla="*/ 1890313 h 3337411"/>
              <a:gd name="connsiteX1" fmla="*/ 1388910 w 3302151"/>
              <a:gd name="connsiteY1" fmla="*/ 21428 h 3337411"/>
              <a:gd name="connsiteX2" fmla="*/ 3275284 w 3302151"/>
              <a:gd name="connsiteY2" fmla="*/ 1372095 h 3337411"/>
              <a:gd name="connsiteX3" fmla="*/ 1992810 w 3302151"/>
              <a:gd name="connsiteY3" fmla="*/ 3305186 h 3337411"/>
              <a:gd name="connsiteX4" fmla="*/ 2010677 w 3302151"/>
              <a:gd name="connsiteY4" fmla="*/ 3337411 h 3337411"/>
              <a:gd name="connsiteX5" fmla="*/ 1533514 w 3302151"/>
              <a:gd name="connsiteY5" fmla="*/ 3117184 h 3337411"/>
              <a:gd name="connsiteX6" fmla="*/ 2050129 w 3302151"/>
              <a:gd name="connsiteY6" fmla="*/ 2599705 h 3337411"/>
              <a:gd name="connsiteX7" fmla="*/ 2030535 w 3302151"/>
              <a:gd name="connsiteY7" fmla="*/ 2840861 h 3337411"/>
              <a:gd name="connsiteX8" fmla="*/ 2825715 w 3302151"/>
              <a:gd name="connsiteY8" fmla="*/ 1366429 h 3337411"/>
              <a:gd name="connsiteX9" fmla="*/ 1414350 w 3302151"/>
              <a:gd name="connsiteY9" fmla="*/ 462534 h 3337411"/>
              <a:gd name="connsiteX10" fmla="*/ 449189 w 3302151"/>
              <a:gd name="connsiteY10" fmla="*/ 1832006 h 3337411"/>
              <a:gd name="connsiteX11" fmla="*/ 14488 w 3302151"/>
              <a:gd name="connsiteY11" fmla="*/ 1890313 h 3337411"/>
              <a:gd name="connsiteX0" fmla="*/ 14488 w 3302151"/>
              <a:gd name="connsiteY0" fmla="*/ 1890313 h 3337411"/>
              <a:gd name="connsiteX1" fmla="*/ 1388910 w 3302151"/>
              <a:gd name="connsiteY1" fmla="*/ 21428 h 3337411"/>
              <a:gd name="connsiteX2" fmla="*/ 3275284 w 3302151"/>
              <a:gd name="connsiteY2" fmla="*/ 1372095 h 3337411"/>
              <a:gd name="connsiteX3" fmla="*/ 1992810 w 3302151"/>
              <a:gd name="connsiteY3" fmla="*/ 3305186 h 3337411"/>
              <a:gd name="connsiteX4" fmla="*/ 2010677 w 3302151"/>
              <a:gd name="connsiteY4" fmla="*/ 3337411 h 3337411"/>
              <a:gd name="connsiteX5" fmla="*/ 2021040 w 3302151"/>
              <a:gd name="connsiteY5" fmla="*/ 2958162 h 3337411"/>
              <a:gd name="connsiteX6" fmla="*/ 2050129 w 3302151"/>
              <a:gd name="connsiteY6" fmla="*/ 2599705 h 3337411"/>
              <a:gd name="connsiteX7" fmla="*/ 2030535 w 3302151"/>
              <a:gd name="connsiteY7" fmla="*/ 2840861 h 3337411"/>
              <a:gd name="connsiteX8" fmla="*/ 2825715 w 3302151"/>
              <a:gd name="connsiteY8" fmla="*/ 1366429 h 3337411"/>
              <a:gd name="connsiteX9" fmla="*/ 1414350 w 3302151"/>
              <a:gd name="connsiteY9" fmla="*/ 462534 h 3337411"/>
              <a:gd name="connsiteX10" fmla="*/ 449189 w 3302151"/>
              <a:gd name="connsiteY10" fmla="*/ 1832006 h 3337411"/>
              <a:gd name="connsiteX11" fmla="*/ 14488 w 3302151"/>
              <a:gd name="connsiteY11" fmla="*/ 1890313 h 3337411"/>
              <a:gd name="connsiteX0" fmla="*/ 14488 w 3302151"/>
              <a:gd name="connsiteY0" fmla="*/ 1890313 h 3337411"/>
              <a:gd name="connsiteX1" fmla="*/ 1388910 w 3302151"/>
              <a:gd name="connsiteY1" fmla="*/ 21428 h 3337411"/>
              <a:gd name="connsiteX2" fmla="*/ 3275284 w 3302151"/>
              <a:gd name="connsiteY2" fmla="*/ 1372095 h 3337411"/>
              <a:gd name="connsiteX3" fmla="*/ 1992810 w 3302151"/>
              <a:gd name="connsiteY3" fmla="*/ 3305186 h 3337411"/>
              <a:gd name="connsiteX4" fmla="*/ 2010677 w 3302151"/>
              <a:gd name="connsiteY4" fmla="*/ 3337411 h 3337411"/>
              <a:gd name="connsiteX5" fmla="*/ 2037437 w 3302151"/>
              <a:gd name="connsiteY5" fmla="*/ 2948483 h 3337411"/>
              <a:gd name="connsiteX6" fmla="*/ 2050129 w 3302151"/>
              <a:gd name="connsiteY6" fmla="*/ 2599705 h 3337411"/>
              <a:gd name="connsiteX7" fmla="*/ 2030535 w 3302151"/>
              <a:gd name="connsiteY7" fmla="*/ 2840861 h 3337411"/>
              <a:gd name="connsiteX8" fmla="*/ 2825715 w 3302151"/>
              <a:gd name="connsiteY8" fmla="*/ 1366429 h 3337411"/>
              <a:gd name="connsiteX9" fmla="*/ 1414350 w 3302151"/>
              <a:gd name="connsiteY9" fmla="*/ 462534 h 3337411"/>
              <a:gd name="connsiteX10" fmla="*/ 449189 w 3302151"/>
              <a:gd name="connsiteY10" fmla="*/ 1832006 h 3337411"/>
              <a:gd name="connsiteX11" fmla="*/ 14488 w 3302151"/>
              <a:gd name="connsiteY11" fmla="*/ 1890313 h 3337411"/>
              <a:gd name="connsiteX0" fmla="*/ 14488 w 3302151"/>
              <a:gd name="connsiteY0" fmla="*/ 1890313 h 3337411"/>
              <a:gd name="connsiteX1" fmla="*/ 1388910 w 3302151"/>
              <a:gd name="connsiteY1" fmla="*/ 21428 h 3337411"/>
              <a:gd name="connsiteX2" fmla="*/ 3275284 w 3302151"/>
              <a:gd name="connsiteY2" fmla="*/ 1372095 h 3337411"/>
              <a:gd name="connsiteX3" fmla="*/ 1992810 w 3302151"/>
              <a:gd name="connsiteY3" fmla="*/ 3305186 h 3337411"/>
              <a:gd name="connsiteX4" fmla="*/ 2010677 w 3302151"/>
              <a:gd name="connsiteY4" fmla="*/ 3337411 h 3337411"/>
              <a:gd name="connsiteX5" fmla="*/ 2037437 w 3302151"/>
              <a:gd name="connsiteY5" fmla="*/ 2948483 h 3337411"/>
              <a:gd name="connsiteX6" fmla="*/ 2037882 w 3302151"/>
              <a:gd name="connsiteY6" fmla="*/ 2834551 h 3337411"/>
              <a:gd name="connsiteX7" fmla="*/ 2030535 w 3302151"/>
              <a:gd name="connsiteY7" fmla="*/ 2840861 h 3337411"/>
              <a:gd name="connsiteX8" fmla="*/ 2825715 w 3302151"/>
              <a:gd name="connsiteY8" fmla="*/ 1366429 h 3337411"/>
              <a:gd name="connsiteX9" fmla="*/ 1414350 w 3302151"/>
              <a:gd name="connsiteY9" fmla="*/ 462534 h 3337411"/>
              <a:gd name="connsiteX10" fmla="*/ 449189 w 3302151"/>
              <a:gd name="connsiteY10" fmla="*/ 1832006 h 3337411"/>
              <a:gd name="connsiteX11" fmla="*/ 14488 w 3302151"/>
              <a:gd name="connsiteY11" fmla="*/ 1890313 h 3337411"/>
              <a:gd name="connsiteX0" fmla="*/ 14488 w 3302151"/>
              <a:gd name="connsiteY0" fmla="*/ 1890313 h 3337411"/>
              <a:gd name="connsiteX1" fmla="*/ 1388910 w 3302151"/>
              <a:gd name="connsiteY1" fmla="*/ 21428 h 3337411"/>
              <a:gd name="connsiteX2" fmla="*/ 3275284 w 3302151"/>
              <a:gd name="connsiteY2" fmla="*/ 1372095 h 3337411"/>
              <a:gd name="connsiteX3" fmla="*/ 1992810 w 3302151"/>
              <a:gd name="connsiteY3" fmla="*/ 3305186 h 3337411"/>
              <a:gd name="connsiteX4" fmla="*/ 2010677 w 3302151"/>
              <a:gd name="connsiteY4" fmla="*/ 3337411 h 3337411"/>
              <a:gd name="connsiteX5" fmla="*/ 2034965 w 3302151"/>
              <a:gd name="connsiteY5" fmla="*/ 2891413 h 3337411"/>
              <a:gd name="connsiteX6" fmla="*/ 2037882 w 3302151"/>
              <a:gd name="connsiteY6" fmla="*/ 2834551 h 3337411"/>
              <a:gd name="connsiteX7" fmla="*/ 2030535 w 3302151"/>
              <a:gd name="connsiteY7" fmla="*/ 2840861 h 3337411"/>
              <a:gd name="connsiteX8" fmla="*/ 2825715 w 3302151"/>
              <a:gd name="connsiteY8" fmla="*/ 1366429 h 3337411"/>
              <a:gd name="connsiteX9" fmla="*/ 1414350 w 3302151"/>
              <a:gd name="connsiteY9" fmla="*/ 462534 h 3337411"/>
              <a:gd name="connsiteX10" fmla="*/ 449189 w 3302151"/>
              <a:gd name="connsiteY10" fmla="*/ 1832006 h 3337411"/>
              <a:gd name="connsiteX11" fmla="*/ 14488 w 3302151"/>
              <a:gd name="connsiteY11" fmla="*/ 1890313 h 3337411"/>
              <a:gd name="connsiteX0" fmla="*/ 14488 w 3302151"/>
              <a:gd name="connsiteY0" fmla="*/ 1890313 h 3305186"/>
              <a:gd name="connsiteX1" fmla="*/ 1388910 w 3302151"/>
              <a:gd name="connsiteY1" fmla="*/ 21428 h 3305186"/>
              <a:gd name="connsiteX2" fmla="*/ 3275284 w 3302151"/>
              <a:gd name="connsiteY2" fmla="*/ 1372095 h 3305186"/>
              <a:gd name="connsiteX3" fmla="*/ 1992810 w 3302151"/>
              <a:gd name="connsiteY3" fmla="*/ 3305186 h 3305186"/>
              <a:gd name="connsiteX4" fmla="*/ 2014770 w 3302151"/>
              <a:gd name="connsiteY4" fmla="*/ 3302479 h 3305186"/>
              <a:gd name="connsiteX5" fmla="*/ 2034965 w 3302151"/>
              <a:gd name="connsiteY5" fmla="*/ 2891413 h 3305186"/>
              <a:gd name="connsiteX6" fmla="*/ 2037882 w 3302151"/>
              <a:gd name="connsiteY6" fmla="*/ 2834551 h 3305186"/>
              <a:gd name="connsiteX7" fmla="*/ 2030535 w 3302151"/>
              <a:gd name="connsiteY7" fmla="*/ 2840861 h 3305186"/>
              <a:gd name="connsiteX8" fmla="*/ 2825715 w 3302151"/>
              <a:gd name="connsiteY8" fmla="*/ 1366429 h 3305186"/>
              <a:gd name="connsiteX9" fmla="*/ 1414350 w 3302151"/>
              <a:gd name="connsiteY9" fmla="*/ 462534 h 3305186"/>
              <a:gd name="connsiteX10" fmla="*/ 449189 w 3302151"/>
              <a:gd name="connsiteY10" fmla="*/ 1832006 h 3305186"/>
              <a:gd name="connsiteX11" fmla="*/ 14488 w 3302151"/>
              <a:gd name="connsiteY11" fmla="*/ 1890313 h 3305186"/>
              <a:gd name="connsiteX0" fmla="*/ 14488 w 3302151"/>
              <a:gd name="connsiteY0" fmla="*/ 1890313 h 3305186"/>
              <a:gd name="connsiteX1" fmla="*/ 1388910 w 3302151"/>
              <a:gd name="connsiteY1" fmla="*/ 21428 h 3305186"/>
              <a:gd name="connsiteX2" fmla="*/ 3275284 w 3302151"/>
              <a:gd name="connsiteY2" fmla="*/ 1372095 h 3305186"/>
              <a:gd name="connsiteX3" fmla="*/ 1992810 w 3302151"/>
              <a:gd name="connsiteY3" fmla="*/ 3305186 h 3305186"/>
              <a:gd name="connsiteX4" fmla="*/ 2021000 w 3302151"/>
              <a:gd name="connsiteY4" fmla="*/ 3290997 h 3305186"/>
              <a:gd name="connsiteX5" fmla="*/ 2034965 w 3302151"/>
              <a:gd name="connsiteY5" fmla="*/ 2891413 h 3305186"/>
              <a:gd name="connsiteX6" fmla="*/ 2037882 w 3302151"/>
              <a:gd name="connsiteY6" fmla="*/ 2834551 h 3305186"/>
              <a:gd name="connsiteX7" fmla="*/ 2030535 w 3302151"/>
              <a:gd name="connsiteY7" fmla="*/ 2840861 h 3305186"/>
              <a:gd name="connsiteX8" fmla="*/ 2825715 w 3302151"/>
              <a:gd name="connsiteY8" fmla="*/ 1366429 h 3305186"/>
              <a:gd name="connsiteX9" fmla="*/ 1414350 w 3302151"/>
              <a:gd name="connsiteY9" fmla="*/ 462534 h 3305186"/>
              <a:gd name="connsiteX10" fmla="*/ 449189 w 3302151"/>
              <a:gd name="connsiteY10" fmla="*/ 1832006 h 3305186"/>
              <a:gd name="connsiteX11" fmla="*/ 14488 w 3302151"/>
              <a:gd name="connsiteY11" fmla="*/ 1890313 h 3305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02151" h="3305186">
                <a:moveTo>
                  <a:pt x="14488" y="1890313"/>
                </a:moveTo>
                <a:cubicBezTo>
                  <a:pt x="-102973" y="993530"/>
                  <a:pt x="506300" y="165064"/>
                  <a:pt x="1388910" y="21428"/>
                </a:cubicBezTo>
                <a:cubicBezTo>
                  <a:pt x="2276179" y="-122966"/>
                  <a:pt x="3114594" y="477349"/>
                  <a:pt x="3275284" y="1372095"/>
                </a:cubicBezTo>
                <a:cubicBezTo>
                  <a:pt x="3435005" y="2261449"/>
                  <a:pt x="2866712" y="3118046"/>
                  <a:pt x="1992810" y="3305186"/>
                </a:cubicBezTo>
                <a:lnTo>
                  <a:pt x="2021000" y="3290997"/>
                </a:lnTo>
                <a:lnTo>
                  <a:pt x="2034965" y="2891413"/>
                </a:lnTo>
                <a:cubicBezTo>
                  <a:pt x="2035113" y="2853436"/>
                  <a:pt x="2037734" y="2872528"/>
                  <a:pt x="2037882" y="2834551"/>
                </a:cubicBezTo>
                <a:lnTo>
                  <a:pt x="2030535" y="2840861"/>
                </a:lnTo>
                <a:cubicBezTo>
                  <a:pt x="2635698" y="2638142"/>
                  <a:pt x="2983142" y="1993908"/>
                  <a:pt x="2825715" y="1366429"/>
                </a:cubicBezTo>
                <a:cubicBezTo>
                  <a:pt x="2666485" y="731761"/>
                  <a:pt x="2046438" y="334659"/>
                  <a:pt x="1414350" y="462534"/>
                </a:cubicBezTo>
                <a:cubicBezTo>
                  <a:pt x="787827" y="589284"/>
                  <a:pt x="365602" y="1188382"/>
                  <a:pt x="449189" y="1832006"/>
                </a:cubicBezTo>
                <a:lnTo>
                  <a:pt x="14488" y="1890313"/>
                </a:lnTo>
                <a:close/>
              </a:path>
            </a:pathLst>
          </a:custGeom>
          <a:solidFill>
            <a:srgbClr val="036C94">
              <a:alpha val="67059"/>
            </a:srgb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sz="2400"/>
          </a:p>
        </p:txBody>
      </p:sp>
      <p:sp>
        <p:nvSpPr>
          <p:cNvPr id="25" name="TextBox 24">
            <a:extLst>
              <a:ext uri="{FF2B5EF4-FFF2-40B4-BE49-F238E27FC236}">
                <a16:creationId xmlns:a16="http://schemas.microsoft.com/office/drawing/2014/main" id="{1E4C0AB3-D944-7F24-35E1-25E3BA7E0332}"/>
              </a:ext>
            </a:extLst>
          </p:cNvPr>
          <p:cNvSpPr txBox="1"/>
          <p:nvPr/>
        </p:nvSpPr>
        <p:spPr>
          <a:xfrm>
            <a:off x="6012398" y="4070403"/>
            <a:ext cx="2063228" cy="923330"/>
          </a:xfrm>
          <a:prstGeom prst="rect">
            <a:avLst/>
          </a:prstGeom>
          <a:noFill/>
        </p:spPr>
        <p:txBody>
          <a:bodyPr wrap="square" rtlCol="0">
            <a:spAutoFit/>
          </a:bodyPr>
          <a:lstStyle/>
          <a:p>
            <a:pPr algn="ctr"/>
            <a:r>
              <a:rPr lang="en-US" sz="1800">
                <a:solidFill>
                  <a:schemeClr val="tx1">
                    <a:lumMod val="75000"/>
                    <a:lumOff val="25000"/>
                  </a:schemeClr>
                </a:solidFill>
                <a:latin typeface="Aptos" panose="020B0004020202020204" pitchFamily="34" charset="0"/>
              </a:rPr>
              <a:t>Train billions of parameters on tons of text data</a:t>
            </a:r>
            <a:r>
              <a:rPr lang="en-US" sz="1800" baseline="30000">
                <a:solidFill>
                  <a:schemeClr val="tx1">
                    <a:lumMod val="75000"/>
                    <a:lumOff val="25000"/>
                  </a:schemeClr>
                </a:solidFill>
                <a:latin typeface="Aptos" panose="020B0004020202020204" pitchFamily="34" charset="0"/>
              </a:rPr>
              <a:t>1</a:t>
            </a:r>
            <a:endParaRPr lang="en-US" sz="1800" b="1" kern="1200" baseline="30000">
              <a:solidFill>
                <a:schemeClr val="tx1">
                  <a:lumMod val="75000"/>
                  <a:lumOff val="25000"/>
                </a:schemeClr>
              </a:solidFill>
              <a:latin typeface="Aptos" panose="020B0004020202020204" pitchFamily="34" charset="0"/>
            </a:endParaRPr>
          </a:p>
        </p:txBody>
      </p:sp>
      <p:sp>
        <p:nvSpPr>
          <p:cNvPr id="27" name="TextBox 26">
            <a:extLst>
              <a:ext uri="{FF2B5EF4-FFF2-40B4-BE49-F238E27FC236}">
                <a16:creationId xmlns:a16="http://schemas.microsoft.com/office/drawing/2014/main" id="{42FC8F99-70D0-DC34-3FC4-F37FAC1EBC84}"/>
              </a:ext>
            </a:extLst>
          </p:cNvPr>
          <p:cNvSpPr txBox="1"/>
          <p:nvPr/>
        </p:nvSpPr>
        <p:spPr>
          <a:xfrm>
            <a:off x="100014" y="6462377"/>
            <a:ext cx="6098344" cy="246221"/>
          </a:xfrm>
          <a:prstGeom prst="rect">
            <a:avLst/>
          </a:prstGeom>
          <a:noFill/>
        </p:spPr>
        <p:txBody>
          <a:bodyPr wrap="square">
            <a:spAutoFit/>
          </a:bodyPr>
          <a:lstStyle/>
          <a:p>
            <a:r>
              <a:rPr lang="en-US" sz="1000">
                <a:latin typeface="Aptos" panose="020B0004020202020204" pitchFamily="34" charset="0"/>
              </a:rPr>
              <a:t>1. </a:t>
            </a:r>
            <a:r>
              <a:rPr lang="fr-FR" sz="1000" err="1">
                <a:latin typeface="Aptos" panose="020B0004020202020204" pitchFamily="34" charset="0"/>
              </a:rPr>
              <a:t>Minaee</a:t>
            </a:r>
            <a:r>
              <a:rPr lang="fr-FR" sz="1000">
                <a:latin typeface="Aptos" panose="020B0004020202020204" pitchFamily="34" charset="0"/>
              </a:rPr>
              <a:t> et al. </a:t>
            </a:r>
            <a:r>
              <a:rPr lang="fr-FR" sz="1000" i="1">
                <a:latin typeface="Aptos" panose="020B0004020202020204" pitchFamily="34" charset="0"/>
              </a:rPr>
              <a:t>Computer Science, </a:t>
            </a:r>
            <a:r>
              <a:rPr lang="fr-FR" sz="1000" i="1" err="1">
                <a:latin typeface="Aptos" panose="020B0004020202020204" pitchFamily="34" charset="0"/>
              </a:rPr>
              <a:t>Linguistics</a:t>
            </a:r>
            <a:r>
              <a:rPr lang="fr-FR" sz="1000">
                <a:latin typeface="Aptos" panose="020B0004020202020204" pitchFamily="34" charset="0"/>
              </a:rPr>
              <a:t>, 2024. </a:t>
            </a:r>
            <a:r>
              <a:rPr lang="en-CA" sz="1000" b="0" i="0">
                <a:effectLst/>
                <a:latin typeface="Aptos" panose="020B0004020202020204" pitchFamily="34" charset="0"/>
              </a:rPr>
              <a:t>DOI:</a:t>
            </a:r>
            <a:r>
              <a:rPr lang="en-CA" sz="1000" b="0" i="0" u="none" strike="noStrike">
                <a:effectLst/>
                <a:latin typeface="Aptos" panose="020B0004020202020204" pitchFamily="34" charset="0"/>
              </a:rPr>
              <a:t>10.48550/arXiv.2402.06196</a:t>
            </a:r>
            <a:endParaRPr lang="en-CA" sz="1000" b="0" i="0">
              <a:effectLst/>
              <a:latin typeface="Aptos" panose="020B0004020202020204" pitchFamily="34" charset="0"/>
            </a:endParaRPr>
          </a:p>
        </p:txBody>
      </p:sp>
    </p:spTree>
    <p:extLst>
      <p:ext uri="{BB962C8B-B14F-4D97-AF65-F5344CB8AC3E}">
        <p14:creationId xmlns:p14="http://schemas.microsoft.com/office/powerpoint/2010/main" val="3739907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516B1-DA99-DFE6-D456-CC587B255EA5}"/>
              </a:ext>
            </a:extLst>
          </p:cNvPr>
          <p:cNvSpPr>
            <a:spLocks noGrp="1"/>
          </p:cNvSpPr>
          <p:nvPr>
            <p:ph type="title"/>
          </p:nvPr>
        </p:nvSpPr>
        <p:spPr>
          <a:xfrm>
            <a:off x="526143" y="94566"/>
            <a:ext cx="10515600" cy="1325563"/>
          </a:xfrm>
        </p:spPr>
        <p:txBody>
          <a:bodyPr/>
          <a:lstStyle/>
          <a:p>
            <a:r>
              <a:rPr lang="en-US"/>
              <a:t>LLM Application in Survey Research</a:t>
            </a:r>
          </a:p>
        </p:txBody>
      </p:sp>
      <p:sp>
        <p:nvSpPr>
          <p:cNvPr id="5" name="TextBox 4">
            <a:extLst>
              <a:ext uri="{FF2B5EF4-FFF2-40B4-BE49-F238E27FC236}">
                <a16:creationId xmlns:a16="http://schemas.microsoft.com/office/drawing/2014/main" id="{D575062C-FD0D-2878-9C63-CA1035D68C54}"/>
              </a:ext>
            </a:extLst>
          </p:cNvPr>
          <p:cNvSpPr txBox="1"/>
          <p:nvPr/>
        </p:nvSpPr>
        <p:spPr>
          <a:xfrm>
            <a:off x="160650" y="5863605"/>
            <a:ext cx="7599930" cy="553998"/>
          </a:xfrm>
          <a:prstGeom prst="rect">
            <a:avLst/>
          </a:prstGeom>
          <a:noFill/>
        </p:spPr>
        <p:txBody>
          <a:bodyPr wrap="square" lIns="91440" tIns="45720" rIns="91440" bIns="45720" anchor="t">
            <a:spAutoFit/>
          </a:bodyPr>
          <a:lstStyle/>
          <a:p>
            <a:r>
              <a:rPr lang="en-CA" sz="1000">
                <a:latin typeface="Aptos"/>
              </a:rPr>
              <a:t>TRAPD </a:t>
            </a:r>
            <a:r>
              <a:rPr lang="en-US" sz="1000">
                <a:latin typeface="Aptos"/>
              </a:rPr>
              <a:t>(Translation, Review, Adjudication, Pretesting, and Documentation).</a:t>
            </a:r>
          </a:p>
          <a:p>
            <a:r>
              <a:rPr lang="en-CA" sz="1000">
                <a:latin typeface="Aptos"/>
              </a:rPr>
              <a:t>1. </a:t>
            </a:r>
            <a:r>
              <a:rPr lang="da-DK" sz="1000" i="1">
                <a:latin typeface="Aptos"/>
              </a:rPr>
              <a:t>Jacobsen et al. (2025); 2. Wong et al. (2025); 3. </a:t>
            </a:r>
            <a:r>
              <a:rPr lang="da-DK" sz="1000" i="1" err="1">
                <a:latin typeface="Aptos"/>
              </a:rPr>
              <a:t>Wuttke</a:t>
            </a:r>
            <a:r>
              <a:rPr lang="da-DK" sz="1000" i="1">
                <a:latin typeface="Aptos"/>
              </a:rPr>
              <a:t> et al. (2024); 4. </a:t>
            </a:r>
            <a:r>
              <a:rPr lang="en-US" sz="1000" i="1">
                <a:latin typeface="Aptos"/>
              </a:rPr>
              <a:t>Mellon et al. (2024); 5. Tai et al. (2024); 6. Xiao et al. (2023); 7. </a:t>
            </a:r>
            <a:r>
              <a:rPr lang="da-DK" sz="1000" i="1">
                <a:latin typeface="Aptos"/>
              </a:rPr>
              <a:t>NORC (2024); 8. </a:t>
            </a:r>
            <a:r>
              <a:rPr lang="da-DK" sz="1000" i="1" err="1">
                <a:latin typeface="Aptos"/>
              </a:rPr>
              <a:t>Padgett</a:t>
            </a:r>
            <a:r>
              <a:rPr lang="da-DK" sz="1000" i="1">
                <a:latin typeface="Aptos"/>
              </a:rPr>
              <a:t> et al., (2024); 9. </a:t>
            </a:r>
            <a:r>
              <a:rPr lang="da-DK" sz="1000" i="1" err="1">
                <a:latin typeface="Aptos"/>
              </a:rPr>
              <a:t>Metheney</a:t>
            </a:r>
            <a:r>
              <a:rPr lang="da-DK" sz="1000" i="1">
                <a:latin typeface="Aptos"/>
              </a:rPr>
              <a:t> &amp; </a:t>
            </a:r>
            <a:r>
              <a:rPr lang="da-DK" sz="1000" i="1" err="1">
                <a:latin typeface="Aptos"/>
              </a:rPr>
              <a:t>Yehle</a:t>
            </a:r>
            <a:r>
              <a:rPr lang="da-DK" sz="1000" i="1">
                <a:latin typeface="Aptos"/>
              </a:rPr>
              <a:t> (2024).; 10. Zhang et al. (2025); 11. </a:t>
            </a:r>
            <a:r>
              <a:rPr lang="da-DK" sz="1000" i="1" err="1">
                <a:latin typeface="Aptos"/>
              </a:rPr>
              <a:t>Meem</a:t>
            </a:r>
            <a:r>
              <a:rPr lang="da-DK" sz="1000" i="1">
                <a:latin typeface="Aptos"/>
              </a:rPr>
              <a:t> et al. (2024)</a:t>
            </a:r>
            <a:endParaRPr lang="da-DK" sz="1000">
              <a:latin typeface="Aptos"/>
            </a:endParaRPr>
          </a:p>
        </p:txBody>
      </p:sp>
      <p:grpSp>
        <p:nvGrpSpPr>
          <p:cNvPr id="16" name="Group 15">
            <a:extLst>
              <a:ext uri="{FF2B5EF4-FFF2-40B4-BE49-F238E27FC236}">
                <a16:creationId xmlns:a16="http://schemas.microsoft.com/office/drawing/2014/main" id="{D33D803C-A310-D6A5-D2D7-DF801852B320}"/>
              </a:ext>
            </a:extLst>
          </p:cNvPr>
          <p:cNvGrpSpPr/>
          <p:nvPr/>
        </p:nvGrpSpPr>
        <p:grpSpPr>
          <a:xfrm>
            <a:off x="162204" y="1433368"/>
            <a:ext cx="3688080" cy="1929629"/>
            <a:chOff x="162204" y="1524577"/>
            <a:chExt cx="3688080" cy="1929629"/>
          </a:xfrm>
        </p:grpSpPr>
        <p:sp>
          <p:nvSpPr>
            <p:cNvPr id="6" name="Rounded Rectangle 5">
              <a:extLst>
                <a:ext uri="{FF2B5EF4-FFF2-40B4-BE49-F238E27FC236}">
                  <a16:creationId xmlns:a16="http://schemas.microsoft.com/office/drawing/2014/main" id="{BA7FA13A-FEA5-56B7-7516-A66F69A13F16}"/>
                </a:ext>
              </a:extLst>
            </p:cNvPr>
            <p:cNvSpPr/>
            <p:nvPr/>
          </p:nvSpPr>
          <p:spPr>
            <a:xfrm>
              <a:off x="162204" y="1524577"/>
              <a:ext cx="3688080" cy="1929629"/>
            </a:xfrm>
            <a:prstGeom prst="roundRect">
              <a:avLst>
                <a:gd name="adj" fmla="val 9476"/>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t" anchorCtr="0"/>
            <a:lstStyle/>
            <a:p>
              <a:pPr algn="ctr"/>
              <a:r>
                <a:rPr lang="en-US" sz="2800" b="1">
                  <a:latin typeface="Aptos"/>
                </a:rPr>
                <a:t>AI Interviewing</a:t>
              </a:r>
            </a:p>
          </p:txBody>
        </p:sp>
        <p:sp>
          <p:nvSpPr>
            <p:cNvPr id="7" name="Rounded Rectangle 6">
              <a:extLst>
                <a:ext uri="{FF2B5EF4-FFF2-40B4-BE49-F238E27FC236}">
                  <a16:creationId xmlns:a16="http://schemas.microsoft.com/office/drawing/2014/main" id="{9FF2D4D8-E16D-DDED-4C5D-C2885C2E7809}"/>
                </a:ext>
              </a:extLst>
            </p:cNvPr>
            <p:cNvSpPr/>
            <p:nvPr/>
          </p:nvSpPr>
          <p:spPr>
            <a:xfrm>
              <a:off x="162204" y="1971617"/>
              <a:ext cx="3688080" cy="1457383"/>
            </a:xfrm>
            <a:prstGeom prst="roundRect">
              <a:avLst>
                <a:gd name="adj" fmla="val 9476"/>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a:solidFill>
                    <a:schemeClr val="tx1">
                      <a:lumMod val="75000"/>
                      <a:lumOff val="25000"/>
                    </a:schemeClr>
                  </a:solidFill>
                  <a:ea typeface="+mn-lt"/>
                  <a:cs typeface="+mn-lt"/>
                </a:rPr>
                <a:t>Conversational data collection with adaptive questioning</a:t>
              </a:r>
              <a:r>
                <a:rPr lang="en-US" sz="2400">
                  <a:solidFill>
                    <a:schemeClr val="tx1">
                      <a:lumMod val="75000"/>
                      <a:lumOff val="25000"/>
                    </a:schemeClr>
                  </a:solidFill>
                </a:rPr>
                <a:t>.</a:t>
              </a:r>
              <a:r>
                <a:rPr lang="en-US" sz="2400" baseline="30000">
                  <a:solidFill>
                    <a:schemeClr val="tx1">
                      <a:lumMod val="75000"/>
                      <a:lumOff val="25000"/>
                    </a:schemeClr>
                  </a:solidFill>
                </a:rPr>
                <a:t>1-3</a:t>
              </a:r>
              <a:endParaRPr lang="en-US" sz="2400" baseline="30000">
                <a:solidFill>
                  <a:schemeClr val="tx1">
                    <a:lumMod val="75000"/>
                    <a:lumOff val="25000"/>
                  </a:schemeClr>
                </a:solidFill>
                <a:ea typeface="Calibri"/>
                <a:cs typeface="Calibri"/>
              </a:endParaRPr>
            </a:p>
          </p:txBody>
        </p:sp>
      </p:grpSp>
      <p:grpSp>
        <p:nvGrpSpPr>
          <p:cNvPr id="17" name="Group 16">
            <a:extLst>
              <a:ext uri="{FF2B5EF4-FFF2-40B4-BE49-F238E27FC236}">
                <a16:creationId xmlns:a16="http://schemas.microsoft.com/office/drawing/2014/main" id="{C8BCC093-1985-8E29-3D8C-BD30A3BBEBEC}"/>
              </a:ext>
            </a:extLst>
          </p:cNvPr>
          <p:cNvGrpSpPr/>
          <p:nvPr/>
        </p:nvGrpSpPr>
        <p:grpSpPr>
          <a:xfrm>
            <a:off x="4238708" y="1433368"/>
            <a:ext cx="3688080" cy="1929629"/>
            <a:chOff x="4238708" y="1524577"/>
            <a:chExt cx="3688080" cy="1929629"/>
          </a:xfrm>
        </p:grpSpPr>
        <p:sp>
          <p:nvSpPr>
            <p:cNvPr id="8" name="Rounded Rectangle 7">
              <a:extLst>
                <a:ext uri="{FF2B5EF4-FFF2-40B4-BE49-F238E27FC236}">
                  <a16:creationId xmlns:a16="http://schemas.microsoft.com/office/drawing/2014/main" id="{FF190D76-BB1C-8925-9EB2-B4EA1470FF32}"/>
                </a:ext>
              </a:extLst>
            </p:cNvPr>
            <p:cNvSpPr/>
            <p:nvPr/>
          </p:nvSpPr>
          <p:spPr>
            <a:xfrm>
              <a:off x="4238708" y="1524577"/>
              <a:ext cx="3688080" cy="1929629"/>
            </a:xfrm>
            <a:prstGeom prst="roundRect">
              <a:avLst>
                <a:gd name="adj" fmla="val 9476"/>
              </a:avLst>
            </a:prstGeom>
            <a:solidFill>
              <a:srgbClr val="008CC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t" anchorCtr="0"/>
            <a:lstStyle/>
            <a:p>
              <a:pPr algn="ctr"/>
              <a:r>
                <a:rPr lang="en-US" sz="2800" b="1">
                  <a:latin typeface="Aptos"/>
                </a:rPr>
                <a:t>Response Coding</a:t>
              </a:r>
            </a:p>
          </p:txBody>
        </p:sp>
        <p:sp>
          <p:nvSpPr>
            <p:cNvPr id="9" name="Rounded Rectangle 8">
              <a:extLst>
                <a:ext uri="{FF2B5EF4-FFF2-40B4-BE49-F238E27FC236}">
                  <a16:creationId xmlns:a16="http://schemas.microsoft.com/office/drawing/2014/main" id="{71D30074-2161-067A-091D-12B7D1EB4355}"/>
                </a:ext>
              </a:extLst>
            </p:cNvPr>
            <p:cNvSpPr/>
            <p:nvPr/>
          </p:nvSpPr>
          <p:spPr>
            <a:xfrm>
              <a:off x="4238708" y="1971617"/>
              <a:ext cx="3688080" cy="1457383"/>
            </a:xfrm>
            <a:prstGeom prst="roundRect">
              <a:avLst>
                <a:gd name="adj" fmla="val 9476"/>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a:solidFill>
                    <a:schemeClr val="tx1">
                      <a:lumMod val="75000"/>
                      <a:lumOff val="25000"/>
                    </a:schemeClr>
                  </a:solidFill>
                  <a:ea typeface="+mn-lt"/>
                  <a:cs typeface="+mn-lt"/>
                </a:rPr>
                <a:t>Automated categorization of open-ended responses.</a:t>
              </a:r>
              <a:r>
                <a:rPr lang="en-US" sz="2400" baseline="30000">
                  <a:solidFill>
                    <a:schemeClr val="tx1">
                      <a:lumMod val="75000"/>
                      <a:lumOff val="25000"/>
                    </a:schemeClr>
                  </a:solidFill>
                </a:rPr>
                <a:t>4-6</a:t>
              </a:r>
              <a:endParaRPr lang="en-US" sz="2400">
                <a:solidFill>
                  <a:schemeClr val="tx1">
                    <a:lumMod val="75000"/>
                    <a:lumOff val="25000"/>
                  </a:schemeClr>
                </a:solidFill>
                <a:ea typeface="Calibri"/>
                <a:cs typeface="Calibri"/>
              </a:endParaRPr>
            </a:p>
          </p:txBody>
        </p:sp>
      </p:grpSp>
      <p:grpSp>
        <p:nvGrpSpPr>
          <p:cNvPr id="18" name="Group 17">
            <a:extLst>
              <a:ext uri="{FF2B5EF4-FFF2-40B4-BE49-F238E27FC236}">
                <a16:creationId xmlns:a16="http://schemas.microsoft.com/office/drawing/2014/main" id="{C34B8F39-465B-65C8-9097-B1555A85AF0B}"/>
              </a:ext>
            </a:extLst>
          </p:cNvPr>
          <p:cNvGrpSpPr/>
          <p:nvPr/>
        </p:nvGrpSpPr>
        <p:grpSpPr>
          <a:xfrm>
            <a:off x="8177802" y="1445859"/>
            <a:ext cx="3850473" cy="1929630"/>
            <a:chOff x="8177802" y="1537068"/>
            <a:chExt cx="3850473" cy="2049838"/>
          </a:xfrm>
        </p:grpSpPr>
        <p:sp>
          <p:nvSpPr>
            <p:cNvPr id="10" name="Rounded Rectangle 9">
              <a:extLst>
                <a:ext uri="{FF2B5EF4-FFF2-40B4-BE49-F238E27FC236}">
                  <a16:creationId xmlns:a16="http://schemas.microsoft.com/office/drawing/2014/main" id="{4F3961AB-F60E-7E44-39EC-8F4BA2182BB8}"/>
                </a:ext>
              </a:extLst>
            </p:cNvPr>
            <p:cNvSpPr/>
            <p:nvPr/>
          </p:nvSpPr>
          <p:spPr>
            <a:xfrm>
              <a:off x="8177803" y="1537068"/>
              <a:ext cx="3850472" cy="2049838"/>
            </a:xfrm>
            <a:prstGeom prst="roundRect">
              <a:avLst>
                <a:gd name="adj" fmla="val 9476"/>
              </a:avLst>
            </a:prstGeom>
            <a:solidFill>
              <a:srgbClr val="036C9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t" anchorCtr="0"/>
            <a:lstStyle/>
            <a:p>
              <a:pPr algn="ctr"/>
              <a:r>
                <a:rPr lang="en-US" sz="2800" b="1">
                  <a:latin typeface="Aptos"/>
                </a:rPr>
                <a:t>Questionnaire Design</a:t>
              </a:r>
            </a:p>
          </p:txBody>
        </p:sp>
        <p:sp>
          <p:nvSpPr>
            <p:cNvPr id="11" name="Rounded Rectangle 10">
              <a:extLst>
                <a:ext uri="{FF2B5EF4-FFF2-40B4-BE49-F238E27FC236}">
                  <a16:creationId xmlns:a16="http://schemas.microsoft.com/office/drawing/2014/main" id="{CF056937-8648-F2A2-A64D-2AE34610B1B3}"/>
                </a:ext>
              </a:extLst>
            </p:cNvPr>
            <p:cNvSpPr/>
            <p:nvPr/>
          </p:nvSpPr>
          <p:spPr>
            <a:xfrm>
              <a:off x="8177802" y="2050459"/>
              <a:ext cx="3850473" cy="1490148"/>
            </a:xfrm>
            <a:prstGeom prst="roundRect">
              <a:avLst>
                <a:gd name="adj" fmla="val 9476"/>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a:solidFill>
                    <a:schemeClr val="tx1">
                      <a:lumMod val="75000"/>
                      <a:lumOff val="25000"/>
                    </a:schemeClr>
                  </a:solidFill>
                  <a:ea typeface="+mn-lt"/>
                  <a:cs typeface="+mn-lt"/>
                </a:rPr>
                <a:t>AI-assisted creation and bias detection</a:t>
              </a:r>
              <a:r>
                <a:rPr lang="en-US" sz="2400">
                  <a:solidFill>
                    <a:schemeClr val="tx1">
                      <a:lumMod val="75000"/>
                      <a:lumOff val="25000"/>
                    </a:schemeClr>
                  </a:solidFill>
                </a:rPr>
                <a:t>.</a:t>
              </a:r>
              <a:r>
                <a:rPr lang="en-US" sz="2400" baseline="30000">
                  <a:solidFill>
                    <a:schemeClr val="tx1">
                      <a:lumMod val="75000"/>
                      <a:lumOff val="25000"/>
                    </a:schemeClr>
                  </a:solidFill>
                </a:rPr>
                <a:t>7,8</a:t>
              </a:r>
              <a:endParaRPr lang="en-US" sz="2400">
                <a:solidFill>
                  <a:schemeClr val="tx1">
                    <a:lumMod val="75000"/>
                    <a:lumOff val="25000"/>
                  </a:schemeClr>
                </a:solidFill>
              </a:endParaRPr>
            </a:p>
          </p:txBody>
        </p:sp>
      </p:grpSp>
      <p:grpSp>
        <p:nvGrpSpPr>
          <p:cNvPr id="19" name="Group 18">
            <a:extLst>
              <a:ext uri="{FF2B5EF4-FFF2-40B4-BE49-F238E27FC236}">
                <a16:creationId xmlns:a16="http://schemas.microsoft.com/office/drawing/2014/main" id="{51C55288-50CC-3A4D-A5A6-76350CA11F2E}"/>
              </a:ext>
            </a:extLst>
          </p:cNvPr>
          <p:cNvGrpSpPr/>
          <p:nvPr/>
        </p:nvGrpSpPr>
        <p:grpSpPr>
          <a:xfrm>
            <a:off x="2394668" y="3608424"/>
            <a:ext cx="3700571" cy="1592350"/>
            <a:chOff x="2394668" y="3700389"/>
            <a:chExt cx="3700571" cy="1929629"/>
          </a:xfrm>
        </p:grpSpPr>
        <p:sp>
          <p:nvSpPr>
            <p:cNvPr id="12" name="Rounded Rectangle 11">
              <a:extLst>
                <a:ext uri="{FF2B5EF4-FFF2-40B4-BE49-F238E27FC236}">
                  <a16:creationId xmlns:a16="http://schemas.microsoft.com/office/drawing/2014/main" id="{32F4B4DA-933E-5350-44E4-02A7B1BFEF66}"/>
                </a:ext>
              </a:extLst>
            </p:cNvPr>
            <p:cNvSpPr/>
            <p:nvPr/>
          </p:nvSpPr>
          <p:spPr>
            <a:xfrm>
              <a:off x="2394668" y="3700389"/>
              <a:ext cx="3688080" cy="1929629"/>
            </a:xfrm>
            <a:prstGeom prst="roundRect">
              <a:avLst>
                <a:gd name="adj" fmla="val 9476"/>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t" anchorCtr="0"/>
            <a:lstStyle/>
            <a:p>
              <a:pPr algn="ctr"/>
              <a:r>
                <a:rPr lang="en-US" sz="2800" b="1">
                  <a:latin typeface="Aptos"/>
                </a:rPr>
                <a:t>Translation Support</a:t>
              </a:r>
            </a:p>
          </p:txBody>
        </p:sp>
        <p:sp>
          <p:nvSpPr>
            <p:cNvPr id="13" name="Rounded Rectangle 12">
              <a:extLst>
                <a:ext uri="{FF2B5EF4-FFF2-40B4-BE49-F238E27FC236}">
                  <a16:creationId xmlns:a16="http://schemas.microsoft.com/office/drawing/2014/main" id="{5E12A92C-4E9B-FC79-6289-7013DB67E17C}"/>
                </a:ext>
              </a:extLst>
            </p:cNvPr>
            <p:cNvSpPr/>
            <p:nvPr/>
          </p:nvSpPr>
          <p:spPr>
            <a:xfrm>
              <a:off x="2394668" y="4374188"/>
              <a:ext cx="3700571" cy="1225330"/>
            </a:xfrm>
            <a:prstGeom prst="roundRect">
              <a:avLst>
                <a:gd name="adj" fmla="val 9476"/>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a:solidFill>
                    <a:schemeClr val="tx1">
                      <a:lumMod val="75000"/>
                      <a:lumOff val="25000"/>
                    </a:schemeClr>
                  </a:solidFill>
                  <a:ea typeface="+mn-lt"/>
                  <a:cs typeface="+mn-lt"/>
                </a:rPr>
                <a:t>TRAPD process assistance</a:t>
              </a:r>
              <a:r>
                <a:rPr lang="en-US" sz="2400">
                  <a:solidFill>
                    <a:schemeClr val="tx1">
                      <a:lumMod val="75000"/>
                      <a:lumOff val="25000"/>
                    </a:schemeClr>
                  </a:solidFill>
                  <a:latin typeface="Calibri"/>
                  <a:ea typeface="Calibri"/>
                  <a:cs typeface="Calibri"/>
                </a:rPr>
                <a:t>.</a:t>
              </a:r>
              <a:r>
                <a:rPr lang="en-US" sz="2400" baseline="30000">
                  <a:solidFill>
                    <a:schemeClr val="tx1">
                      <a:lumMod val="75000"/>
                      <a:lumOff val="25000"/>
                    </a:schemeClr>
                  </a:solidFill>
                </a:rPr>
                <a:t>9</a:t>
              </a:r>
              <a:endParaRPr lang="en-US" sz="2400">
                <a:solidFill>
                  <a:schemeClr val="tx1">
                    <a:lumMod val="75000"/>
                    <a:lumOff val="25000"/>
                  </a:schemeClr>
                </a:solidFill>
              </a:endParaRPr>
            </a:p>
          </p:txBody>
        </p:sp>
      </p:grpSp>
      <p:grpSp>
        <p:nvGrpSpPr>
          <p:cNvPr id="20" name="Group 19">
            <a:extLst>
              <a:ext uri="{FF2B5EF4-FFF2-40B4-BE49-F238E27FC236}">
                <a16:creationId xmlns:a16="http://schemas.microsoft.com/office/drawing/2014/main" id="{0F9948EB-0FE7-FD60-6735-9E9C4AFCC2FE}"/>
              </a:ext>
            </a:extLst>
          </p:cNvPr>
          <p:cNvGrpSpPr/>
          <p:nvPr/>
        </p:nvGrpSpPr>
        <p:grpSpPr>
          <a:xfrm>
            <a:off x="6466497" y="3620915"/>
            <a:ext cx="3638112" cy="1604842"/>
            <a:chOff x="6466282" y="3700389"/>
            <a:chExt cx="3700786" cy="1929629"/>
          </a:xfrm>
        </p:grpSpPr>
        <p:sp>
          <p:nvSpPr>
            <p:cNvPr id="14" name="Rounded Rectangle 13">
              <a:extLst>
                <a:ext uri="{FF2B5EF4-FFF2-40B4-BE49-F238E27FC236}">
                  <a16:creationId xmlns:a16="http://schemas.microsoft.com/office/drawing/2014/main" id="{D4E101B5-C3EF-EF13-2D3F-99C216E33368}"/>
                </a:ext>
              </a:extLst>
            </p:cNvPr>
            <p:cNvSpPr/>
            <p:nvPr/>
          </p:nvSpPr>
          <p:spPr>
            <a:xfrm>
              <a:off x="6478988" y="3700389"/>
              <a:ext cx="3688080" cy="1929629"/>
            </a:xfrm>
            <a:prstGeom prst="roundRect">
              <a:avLst>
                <a:gd name="adj" fmla="val 9476"/>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45720" rtlCol="0" anchor="t" anchorCtr="0"/>
            <a:lstStyle/>
            <a:p>
              <a:pPr algn="ctr"/>
              <a:r>
                <a:rPr lang="en-US" sz="2800" b="1">
                  <a:latin typeface="Aptos"/>
                </a:rPr>
                <a:t>Data Quality Issues</a:t>
              </a:r>
            </a:p>
          </p:txBody>
        </p:sp>
        <p:sp>
          <p:nvSpPr>
            <p:cNvPr id="15" name="Rounded Rectangle 14">
              <a:extLst>
                <a:ext uri="{FF2B5EF4-FFF2-40B4-BE49-F238E27FC236}">
                  <a16:creationId xmlns:a16="http://schemas.microsoft.com/office/drawing/2014/main" id="{1C4A527C-35A9-7FA2-668E-5070FB5A5E11}"/>
                </a:ext>
              </a:extLst>
            </p:cNvPr>
            <p:cNvSpPr/>
            <p:nvPr/>
          </p:nvSpPr>
          <p:spPr>
            <a:xfrm>
              <a:off x="6466282" y="4444704"/>
              <a:ext cx="3689155" cy="1155053"/>
            </a:xfrm>
            <a:prstGeom prst="roundRect">
              <a:avLst>
                <a:gd name="adj" fmla="val 9476"/>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a:solidFill>
                    <a:schemeClr val="tx1">
                      <a:lumMod val="75000"/>
                      <a:lumOff val="25000"/>
                    </a:schemeClr>
                  </a:solidFill>
                  <a:ea typeface="+mn-lt"/>
                  <a:cs typeface="+mn-lt"/>
                </a:rPr>
                <a:t>Respondents using AI to generate answers.</a:t>
              </a:r>
              <a:r>
                <a:rPr lang="en-US" sz="2400" baseline="30000">
                  <a:solidFill>
                    <a:schemeClr val="tx1">
                      <a:lumMod val="75000"/>
                      <a:lumOff val="25000"/>
                    </a:schemeClr>
                  </a:solidFill>
                </a:rPr>
                <a:t>10,11</a:t>
              </a:r>
              <a:endParaRPr lang="en-US" sz="2400">
                <a:solidFill>
                  <a:schemeClr val="tx1">
                    <a:lumMod val="75000"/>
                    <a:lumOff val="25000"/>
                  </a:schemeClr>
                </a:solidFill>
                <a:ea typeface="Calibri"/>
                <a:cs typeface="Calibri"/>
              </a:endParaRPr>
            </a:p>
          </p:txBody>
        </p:sp>
      </p:grpSp>
    </p:spTree>
    <p:extLst>
      <p:ext uri="{BB962C8B-B14F-4D97-AF65-F5344CB8AC3E}">
        <p14:creationId xmlns:p14="http://schemas.microsoft.com/office/powerpoint/2010/main" val="201443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B5A19-4868-554C-4C48-99C0774E942B}"/>
              </a:ext>
            </a:extLst>
          </p:cNvPr>
          <p:cNvSpPr>
            <a:spLocks noGrp="1"/>
          </p:cNvSpPr>
          <p:nvPr>
            <p:ph type="title"/>
          </p:nvPr>
        </p:nvSpPr>
        <p:spPr>
          <a:xfrm>
            <a:off x="495300" y="212725"/>
            <a:ext cx="11237001" cy="887413"/>
          </a:xfrm>
        </p:spPr>
        <p:txBody>
          <a:bodyPr>
            <a:normAutofit fontScale="90000"/>
          </a:bodyPr>
          <a:lstStyle/>
          <a:p>
            <a:r>
              <a:rPr lang="en-US" sz="4000"/>
              <a:t>Tourangeau’s (2000) Cognitive Response Process Framework</a:t>
            </a:r>
            <a:endParaRPr lang="en-US" sz="4000">
              <a:ea typeface="Calibri Light"/>
              <a:cs typeface="Calibri Light"/>
            </a:endParaRPr>
          </a:p>
        </p:txBody>
      </p:sp>
      <p:grpSp>
        <p:nvGrpSpPr>
          <p:cNvPr id="9" name="Group 8">
            <a:extLst>
              <a:ext uri="{FF2B5EF4-FFF2-40B4-BE49-F238E27FC236}">
                <a16:creationId xmlns:a16="http://schemas.microsoft.com/office/drawing/2014/main" id="{097749ED-0293-8DA7-F415-44223FBA8EA0}"/>
              </a:ext>
            </a:extLst>
          </p:cNvPr>
          <p:cNvGrpSpPr/>
          <p:nvPr/>
        </p:nvGrpSpPr>
        <p:grpSpPr>
          <a:xfrm>
            <a:off x="2017793" y="708626"/>
            <a:ext cx="8007795" cy="5871277"/>
            <a:chOff x="2367720" y="868209"/>
            <a:chExt cx="7429268" cy="5558045"/>
          </a:xfrm>
        </p:grpSpPr>
        <p:sp>
          <p:nvSpPr>
            <p:cNvPr id="3" name="Circular Arrow 2">
              <a:extLst>
                <a:ext uri="{FF2B5EF4-FFF2-40B4-BE49-F238E27FC236}">
                  <a16:creationId xmlns:a16="http://schemas.microsoft.com/office/drawing/2014/main" id="{0BB6655C-5F1B-4320-9BC8-C2E3F16425D5}"/>
                </a:ext>
              </a:extLst>
            </p:cNvPr>
            <p:cNvSpPr>
              <a:spLocks noChangeAspect="1"/>
            </p:cNvSpPr>
            <p:nvPr/>
          </p:nvSpPr>
          <p:spPr>
            <a:xfrm rot="7979954">
              <a:off x="3321285" y="839505"/>
              <a:ext cx="5558045" cy="5615453"/>
            </a:xfrm>
            <a:prstGeom prst="circularArrow">
              <a:avLst>
                <a:gd name="adj1" fmla="val 7389"/>
                <a:gd name="adj2" fmla="val 890899"/>
                <a:gd name="adj3" fmla="val 4560601"/>
                <a:gd name="adj4" fmla="val 6195956"/>
                <a:gd name="adj5" fmla="val 8073"/>
              </a:avLst>
            </a:prstGeom>
            <a:solidFill>
              <a:schemeClr val="accent4">
                <a:lumMod val="60000"/>
                <a:lumOff val="40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sz="2400"/>
            </a:p>
          </p:txBody>
        </p:sp>
        <p:sp>
          <p:nvSpPr>
            <p:cNvPr id="4" name="Rounded Rectangle 3">
              <a:extLst>
                <a:ext uri="{FF2B5EF4-FFF2-40B4-BE49-F238E27FC236}">
                  <a16:creationId xmlns:a16="http://schemas.microsoft.com/office/drawing/2014/main" id="{E387BA26-7D9F-AA6A-E7A8-4A7C84A61E58}"/>
                </a:ext>
              </a:extLst>
            </p:cNvPr>
            <p:cNvSpPr/>
            <p:nvPr/>
          </p:nvSpPr>
          <p:spPr>
            <a:xfrm>
              <a:off x="2367720" y="3015875"/>
              <a:ext cx="3167112" cy="1215619"/>
            </a:xfrm>
            <a:prstGeom prst="roundRect">
              <a:avLst/>
            </a:prstGeom>
            <a:solidFill>
              <a:schemeClr val="bg1"/>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a:solidFill>
                    <a:schemeClr val="tx1"/>
                  </a:solidFill>
                </a:rPr>
                <a:t>Response</a:t>
              </a:r>
            </a:p>
            <a:p>
              <a:pPr algn="ctr"/>
              <a:r>
                <a:rPr lang="en-US" sz="2000">
                  <a:solidFill>
                    <a:schemeClr val="tx1"/>
                  </a:solidFill>
                  <a:ea typeface="+mn-lt"/>
                  <a:cs typeface="+mn-lt"/>
                </a:rPr>
                <a:t>Mapping to answer format</a:t>
              </a:r>
              <a:endParaRPr lang="en-US" sz="2000">
                <a:solidFill>
                  <a:schemeClr val="tx1"/>
                </a:solidFill>
                <a:ea typeface="Calibri"/>
                <a:cs typeface="Calibri"/>
              </a:endParaRPr>
            </a:p>
            <a:p>
              <a:pPr algn="ctr"/>
              <a:endParaRPr lang="en-US" sz="1600">
                <a:solidFill>
                  <a:schemeClr val="tx1"/>
                </a:solidFill>
                <a:ea typeface="Calibri"/>
                <a:cs typeface="Calibri"/>
              </a:endParaRPr>
            </a:p>
          </p:txBody>
        </p:sp>
        <p:sp>
          <p:nvSpPr>
            <p:cNvPr id="6" name="Rounded Rectangle 5">
              <a:extLst>
                <a:ext uri="{FF2B5EF4-FFF2-40B4-BE49-F238E27FC236}">
                  <a16:creationId xmlns:a16="http://schemas.microsoft.com/office/drawing/2014/main" id="{B32C84EB-894F-6C93-006C-AA04B1DAF6E8}"/>
                </a:ext>
              </a:extLst>
            </p:cNvPr>
            <p:cNvSpPr/>
            <p:nvPr/>
          </p:nvSpPr>
          <p:spPr>
            <a:xfrm>
              <a:off x="4512443" y="1507809"/>
              <a:ext cx="3167112" cy="1215619"/>
            </a:xfrm>
            <a:prstGeom prst="roundRect">
              <a:avLst/>
            </a:prstGeom>
            <a:solidFill>
              <a:schemeClr val="bg1"/>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a:solidFill>
                    <a:schemeClr val="tx1"/>
                  </a:solidFill>
                </a:rPr>
                <a:t>Comprehension</a:t>
              </a:r>
            </a:p>
            <a:p>
              <a:pPr algn="ctr"/>
              <a:r>
                <a:rPr lang="en-US" sz="2000">
                  <a:solidFill>
                    <a:schemeClr val="tx1"/>
                  </a:solidFill>
                  <a:ea typeface="+mn-lt"/>
                  <a:cs typeface="+mn-lt"/>
                </a:rPr>
                <a:t>Understanding question intent and meaning</a:t>
              </a:r>
            </a:p>
            <a:p>
              <a:pPr algn="ctr"/>
              <a:endParaRPr lang="en-US" sz="1600">
                <a:solidFill>
                  <a:schemeClr val="tx1"/>
                </a:solidFill>
                <a:ea typeface="Calibri"/>
                <a:cs typeface="Calibri"/>
              </a:endParaRPr>
            </a:p>
          </p:txBody>
        </p:sp>
        <p:sp>
          <p:nvSpPr>
            <p:cNvPr id="7" name="Rounded Rectangle 6">
              <a:extLst>
                <a:ext uri="{FF2B5EF4-FFF2-40B4-BE49-F238E27FC236}">
                  <a16:creationId xmlns:a16="http://schemas.microsoft.com/office/drawing/2014/main" id="{053AE3D4-928F-CC92-EB2E-CE28C92CB30C}"/>
                </a:ext>
              </a:extLst>
            </p:cNvPr>
            <p:cNvSpPr/>
            <p:nvPr/>
          </p:nvSpPr>
          <p:spPr>
            <a:xfrm>
              <a:off x="4512443" y="4523942"/>
              <a:ext cx="3167112" cy="1215619"/>
            </a:xfrm>
            <a:prstGeom prst="roundRect">
              <a:avLst/>
            </a:prstGeom>
            <a:solidFill>
              <a:schemeClr val="bg1"/>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a:solidFill>
                    <a:schemeClr val="tx1"/>
                  </a:solidFill>
                </a:rPr>
                <a:t>Judgement</a:t>
              </a:r>
            </a:p>
            <a:p>
              <a:pPr algn="ctr"/>
              <a:r>
                <a:rPr lang="en-US" sz="2000">
                  <a:solidFill>
                    <a:schemeClr val="tx1"/>
                  </a:solidFill>
                  <a:ea typeface="+mn-lt"/>
                  <a:cs typeface="+mn-lt"/>
                </a:rPr>
                <a:t>Forming assessment</a:t>
              </a:r>
              <a:endParaRPr lang="en-US" sz="2000">
                <a:solidFill>
                  <a:schemeClr val="tx1"/>
                </a:solidFill>
                <a:ea typeface="Calibri"/>
                <a:cs typeface="Calibri"/>
              </a:endParaRPr>
            </a:p>
            <a:p>
              <a:pPr algn="ctr"/>
              <a:endParaRPr lang="en-US" sz="1600">
                <a:solidFill>
                  <a:schemeClr val="tx1"/>
                </a:solidFill>
                <a:ea typeface="Calibri"/>
                <a:cs typeface="Calibri"/>
              </a:endParaRPr>
            </a:p>
          </p:txBody>
        </p:sp>
        <p:sp>
          <p:nvSpPr>
            <p:cNvPr id="8" name="Rounded Rectangle 7">
              <a:extLst>
                <a:ext uri="{FF2B5EF4-FFF2-40B4-BE49-F238E27FC236}">
                  <a16:creationId xmlns:a16="http://schemas.microsoft.com/office/drawing/2014/main" id="{782843D2-07D0-C1B7-4977-765C831821DC}"/>
                </a:ext>
              </a:extLst>
            </p:cNvPr>
            <p:cNvSpPr/>
            <p:nvPr/>
          </p:nvSpPr>
          <p:spPr>
            <a:xfrm>
              <a:off x="6629876" y="3015875"/>
              <a:ext cx="3167112" cy="1215619"/>
            </a:xfrm>
            <a:prstGeom prst="roundRect">
              <a:avLst/>
            </a:prstGeom>
            <a:solidFill>
              <a:schemeClr val="bg1"/>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a:solidFill>
                    <a:schemeClr val="tx1"/>
                  </a:solidFill>
                </a:rPr>
                <a:t>Retrieval</a:t>
              </a:r>
              <a:endParaRPr lang="en-US" sz="2800" b="1">
                <a:solidFill>
                  <a:schemeClr val="tx1"/>
                </a:solidFill>
                <a:ea typeface="Calibri"/>
                <a:cs typeface="Calibri"/>
              </a:endParaRPr>
            </a:p>
            <a:p>
              <a:pPr algn="ctr"/>
              <a:r>
                <a:rPr lang="en-US" sz="2000">
                  <a:solidFill>
                    <a:schemeClr val="tx1"/>
                  </a:solidFill>
                  <a:ea typeface="+mn-lt"/>
                  <a:cs typeface="+mn-lt"/>
                </a:rPr>
                <a:t>Accessing relevant memories</a:t>
              </a:r>
              <a:endParaRPr lang="en-US" sz="2000">
                <a:solidFill>
                  <a:schemeClr val="tx1"/>
                </a:solidFill>
                <a:ea typeface="Calibri"/>
                <a:cs typeface="Calibri"/>
              </a:endParaRPr>
            </a:p>
            <a:p>
              <a:pPr algn="ctr"/>
              <a:endParaRPr lang="en-US" sz="1600">
                <a:solidFill>
                  <a:schemeClr val="tx1"/>
                </a:solidFill>
                <a:ea typeface="Calibri"/>
                <a:cs typeface="Calibri"/>
              </a:endParaRPr>
            </a:p>
          </p:txBody>
        </p:sp>
      </p:grpSp>
    </p:spTree>
    <p:extLst>
      <p:ext uri="{BB962C8B-B14F-4D97-AF65-F5344CB8AC3E}">
        <p14:creationId xmlns:p14="http://schemas.microsoft.com/office/powerpoint/2010/main" val="1054454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5D371-D7DB-B62C-FF58-2F42020CFC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C9DCC1-A0FD-28B5-11A1-9D1E7D68AF93}"/>
              </a:ext>
            </a:extLst>
          </p:cNvPr>
          <p:cNvSpPr>
            <a:spLocks noGrp="1"/>
          </p:cNvSpPr>
          <p:nvPr>
            <p:ph type="title"/>
          </p:nvPr>
        </p:nvSpPr>
        <p:spPr>
          <a:xfrm>
            <a:off x="838200" y="365125"/>
            <a:ext cx="10274626" cy="1338588"/>
          </a:xfrm>
        </p:spPr>
        <p:txBody>
          <a:bodyPr/>
          <a:lstStyle/>
          <a:p>
            <a:r>
              <a:rPr lang="en-US"/>
              <a:t>Theoretical Analysis Approach</a:t>
            </a:r>
          </a:p>
        </p:txBody>
      </p:sp>
      <p:sp>
        <p:nvSpPr>
          <p:cNvPr id="6" name="TextBox 5">
            <a:extLst>
              <a:ext uri="{FF2B5EF4-FFF2-40B4-BE49-F238E27FC236}">
                <a16:creationId xmlns:a16="http://schemas.microsoft.com/office/drawing/2014/main" id="{46D8B446-33E1-0176-89AC-2FD49B564FBE}"/>
              </a:ext>
            </a:extLst>
          </p:cNvPr>
          <p:cNvSpPr txBox="1"/>
          <p:nvPr/>
        </p:nvSpPr>
        <p:spPr>
          <a:xfrm>
            <a:off x="551981" y="5234616"/>
            <a:ext cx="6866189" cy="8679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spcBef>
                <a:spcPts val="1000"/>
              </a:spcBef>
            </a:pPr>
            <a:r>
              <a:rPr lang="en-US" sz="2800" b="1">
                <a:solidFill>
                  <a:srgbClr val="C00000"/>
                </a:solidFill>
              </a:rPr>
              <a:t>Goal</a:t>
            </a:r>
            <a:r>
              <a:rPr lang="en-US" sz="2800" i="1"/>
              <a:t>:</a:t>
            </a:r>
            <a:r>
              <a:rPr lang="en-US" sz="2800"/>
              <a:t> Understand how AI fundamentally alters each stage of survey response cognition</a:t>
            </a:r>
            <a:endParaRPr lang="en-US"/>
          </a:p>
        </p:txBody>
      </p:sp>
      <p:grpSp>
        <p:nvGrpSpPr>
          <p:cNvPr id="19" name="Group 18">
            <a:extLst>
              <a:ext uri="{FF2B5EF4-FFF2-40B4-BE49-F238E27FC236}">
                <a16:creationId xmlns:a16="http://schemas.microsoft.com/office/drawing/2014/main" id="{5813D32B-CC2E-E1B2-9C3C-653B3A7BBFF5}"/>
              </a:ext>
            </a:extLst>
          </p:cNvPr>
          <p:cNvGrpSpPr/>
          <p:nvPr/>
        </p:nvGrpSpPr>
        <p:grpSpPr>
          <a:xfrm>
            <a:off x="1084557" y="1678099"/>
            <a:ext cx="10026892" cy="3204117"/>
            <a:chOff x="1084557" y="1469689"/>
            <a:chExt cx="10026892" cy="3204117"/>
          </a:xfrm>
        </p:grpSpPr>
        <p:sp>
          <p:nvSpPr>
            <p:cNvPr id="8" name="Rectangle: Rounded Corners 7">
              <a:extLst>
                <a:ext uri="{FF2B5EF4-FFF2-40B4-BE49-F238E27FC236}">
                  <a16:creationId xmlns:a16="http://schemas.microsoft.com/office/drawing/2014/main" id="{DDE896C4-BE54-0A04-0950-30B716469087}"/>
                </a:ext>
              </a:extLst>
            </p:cNvPr>
            <p:cNvSpPr/>
            <p:nvPr/>
          </p:nvSpPr>
          <p:spPr>
            <a:xfrm>
              <a:off x="2170290" y="1469689"/>
              <a:ext cx="7847058" cy="578728"/>
            </a:xfrm>
            <a:prstGeom prst="roundRect">
              <a:avLst/>
            </a:prstGeom>
          </p:spPr>
          <p:style>
            <a:lnRef idx="1">
              <a:schemeClr val="accent2"/>
            </a:lnRef>
            <a:fillRef idx="2">
              <a:schemeClr val="accent2"/>
            </a:fillRef>
            <a:effectRef idx="1">
              <a:schemeClr val="accent2"/>
            </a:effectRef>
            <a:fontRef idx="minor">
              <a:schemeClr val="dk1"/>
            </a:fontRef>
          </p:style>
          <p:txBody>
            <a:bodyPr lIns="91440" tIns="45720" rIns="91440" bIns="45720" rtlCol="0" anchor="t"/>
            <a:lstStyle/>
            <a:p>
              <a:pPr algn="ctr">
                <a:lnSpc>
                  <a:spcPct val="90000"/>
                </a:lnSpc>
                <a:spcBef>
                  <a:spcPts val="1000"/>
                </a:spcBef>
              </a:pPr>
              <a:r>
                <a:rPr lang="en-US" sz="2800" b="1">
                  <a:ea typeface="Calibri"/>
                  <a:cs typeface="Calibri"/>
                </a:rPr>
                <a:t>Applying Tourangeau's Framework to LLM-PROMs</a:t>
              </a:r>
              <a:endParaRPr lang="en-US" sz="2800">
                <a:ea typeface="Calibri"/>
                <a:cs typeface="Calibri"/>
              </a:endParaRPr>
            </a:p>
            <a:p>
              <a:pPr algn="ctr"/>
              <a:endParaRPr lang="en-US" b="1">
                <a:ea typeface="Calibri"/>
                <a:cs typeface="Calibri"/>
              </a:endParaRPr>
            </a:p>
          </p:txBody>
        </p:sp>
        <p:sp>
          <p:nvSpPr>
            <p:cNvPr id="9" name="Rectangle: Rounded Corners 8">
              <a:extLst>
                <a:ext uri="{FF2B5EF4-FFF2-40B4-BE49-F238E27FC236}">
                  <a16:creationId xmlns:a16="http://schemas.microsoft.com/office/drawing/2014/main" id="{7415BDE5-DDBC-0E78-8821-94ACD32F9A91}"/>
                </a:ext>
              </a:extLst>
            </p:cNvPr>
            <p:cNvSpPr/>
            <p:nvPr/>
          </p:nvSpPr>
          <p:spPr>
            <a:xfrm>
              <a:off x="1084557" y="2639434"/>
              <a:ext cx="2975860" cy="1936804"/>
            </a:xfrm>
            <a:prstGeom prst="roundRect">
              <a:avLst/>
            </a:prstGeom>
          </p:spPr>
          <p:style>
            <a:lnRef idx="1">
              <a:schemeClr val="accent4"/>
            </a:lnRef>
            <a:fillRef idx="2">
              <a:schemeClr val="accent4"/>
            </a:fillRef>
            <a:effectRef idx="1">
              <a:schemeClr val="accent4"/>
            </a:effectRef>
            <a:fontRef idx="minor">
              <a:schemeClr val="dk1"/>
            </a:fontRef>
          </p:style>
          <p:txBody>
            <a:bodyPr lIns="91440" tIns="45720" rIns="91440" bIns="45720" rtlCol="0" anchor="ctr"/>
            <a:lstStyle/>
            <a:p>
              <a:pPr algn="ctr"/>
              <a:r>
                <a:rPr lang="en-US" sz="2000" b="1">
                  <a:ea typeface="Calibri" panose="020F0502020204030204"/>
                  <a:cs typeface="Calibri" panose="020F0502020204030204"/>
                </a:rPr>
                <a:t>Traditional Process</a:t>
              </a:r>
            </a:p>
            <a:p>
              <a:pPr marL="285750" indent="-285750">
                <a:buFont typeface="Arial"/>
                <a:buChar char="•"/>
              </a:pPr>
              <a:r>
                <a:rPr lang="en-US" sz="2000">
                  <a:ea typeface="Calibri" panose="020F0502020204030204"/>
                  <a:cs typeface="Calibri" panose="020F0502020204030204"/>
                </a:rPr>
                <a:t>Human cognition only</a:t>
              </a:r>
            </a:p>
            <a:p>
              <a:pPr marL="285750" indent="-285750">
                <a:buFont typeface="Arial"/>
                <a:buChar char="•"/>
              </a:pPr>
              <a:r>
                <a:rPr lang="en-US" sz="2000">
                  <a:ea typeface="Calibri" panose="020F0502020204030204"/>
                  <a:cs typeface="Calibri" panose="020F0502020204030204"/>
                </a:rPr>
                <a:t>Unitary respondent</a:t>
              </a:r>
            </a:p>
            <a:p>
              <a:pPr marL="285750" indent="-285750">
                <a:buFont typeface="Arial"/>
                <a:buChar char="•"/>
              </a:pPr>
              <a:r>
                <a:rPr lang="en-US" sz="2000">
                  <a:ea typeface="Calibri" panose="020F0502020204030204"/>
                  <a:cs typeface="Calibri" panose="020F0502020204030204"/>
                </a:rPr>
                <a:t>Internal processes</a:t>
              </a:r>
            </a:p>
            <a:p>
              <a:pPr marL="285750" indent="-285750">
                <a:buFont typeface="Arial"/>
                <a:buChar char="•"/>
              </a:pPr>
              <a:r>
                <a:rPr lang="en-US" sz="2000">
                  <a:ea typeface="Calibri" panose="020F0502020204030204"/>
                  <a:cs typeface="Calibri" panose="020F0502020204030204"/>
                </a:rPr>
                <a:t>Standardized items</a:t>
              </a:r>
            </a:p>
            <a:p>
              <a:pPr algn="ctr"/>
              <a:endParaRPr lang="en-US" sz="2000">
                <a:ea typeface="Calibri" panose="020F0502020204030204"/>
                <a:cs typeface="Calibri" panose="020F0502020204030204"/>
              </a:endParaRPr>
            </a:p>
          </p:txBody>
        </p:sp>
        <p:sp>
          <p:nvSpPr>
            <p:cNvPr id="11" name="Rectangle: Rounded Corners 10">
              <a:extLst>
                <a:ext uri="{FF2B5EF4-FFF2-40B4-BE49-F238E27FC236}">
                  <a16:creationId xmlns:a16="http://schemas.microsoft.com/office/drawing/2014/main" id="{C682B28B-C0A2-59B0-6F8F-C3C551C215FB}"/>
                </a:ext>
              </a:extLst>
            </p:cNvPr>
            <p:cNvSpPr/>
            <p:nvPr/>
          </p:nvSpPr>
          <p:spPr>
            <a:xfrm>
              <a:off x="8168153" y="2645945"/>
              <a:ext cx="2943296" cy="1930291"/>
            </a:xfrm>
            <a:prstGeom prst="roundRect">
              <a:avLst/>
            </a:prstGeom>
          </p:spPr>
          <p:style>
            <a:lnRef idx="1">
              <a:schemeClr val="accent6"/>
            </a:lnRef>
            <a:fillRef idx="2">
              <a:schemeClr val="accent6"/>
            </a:fillRef>
            <a:effectRef idx="1">
              <a:schemeClr val="accent6"/>
            </a:effectRef>
            <a:fontRef idx="minor">
              <a:schemeClr val="dk1"/>
            </a:fontRef>
          </p:style>
          <p:txBody>
            <a:bodyPr lIns="91440" tIns="45720" rIns="91440" bIns="45720" rtlCol="0" anchor="ctr"/>
            <a:lstStyle/>
            <a:p>
              <a:pPr algn="ctr"/>
              <a:r>
                <a:rPr lang="en-US" sz="2000" b="1">
                  <a:ea typeface="Calibri" panose="020F0502020204030204"/>
                  <a:cs typeface="Calibri" panose="020F0502020204030204"/>
                </a:rPr>
                <a:t>LLM-PROM Process</a:t>
              </a:r>
              <a:endParaRPr lang="en-US" sz="2000"/>
            </a:p>
            <a:p>
              <a:pPr marL="285750" indent="-285750">
                <a:buFont typeface="Arial"/>
                <a:buChar char="•"/>
              </a:pPr>
              <a:r>
                <a:rPr lang="en-US" sz="2000">
                  <a:ea typeface="Calibri" panose="020F0502020204030204"/>
                  <a:cs typeface="Calibri" panose="020F0502020204030204"/>
                </a:rPr>
                <a:t>Human-AI hybrid</a:t>
              </a:r>
            </a:p>
            <a:p>
              <a:pPr marL="285750" indent="-285750">
                <a:buFont typeface="Arial"/>
                <a:buChar char="•"/>
              </a:pPr>
              <a:r>
                <a:rPr lang="en-US" sz="2000">
                  <a:ea typeface="Calibri" panose="020F0502020204030204"/>
                  <a:cs typeface="Calibri" panose="020F0502020204030204"/>
                </a:rPr>
                <a:t>Distributed cognition</a:t>
              </a:r>
            </a:p>
            <a:p>
              <a:pPr marL="285750" indent="-285750">
                <a:buFont typeface="Arial"/>
                <a:buChar char="•"/>
              </a:pPr>
              <a:r>
                <a:rPr lang="en-US" sz="2000">
                  <a:ea typeface="Calibri" panose="020F0502020204030204"/>
                  <a:cs typeface="Calibri" panose="020F0502020204030204"/>
                </a:rPr>
                <a:t>External processing</a:t>
              </a:r>
            </a:p>
            <a:p>
              <a:pPr marL="285750" indent="-285750">
                <a:buFont typeface="Arial"/>
                <a:buChar char="•"/>
              </a:pPr>
              <a:r>
                <a:rPr lang="en-US" sz="2000">
                  <a:ea typeface="Calibri" panose="020F0502020204030204"/>
                  <a:cs typeface="Calibri" panose="020F0502020204030204"/>
                </a:rPr>
                <a:t>Dynamic adaptation</a:t>
              </a:r>
            </a:p>
            <a:p>
              <a:pPr algn="ctr"/>
              <a:endParaRPr lang="en-US" sz="2000">
                <a:ea typeface="Calibri" panose="020F0502020204030204"/>
                <a:cs typeface="Calibri" panose="020F0502020204030204"/>
              </a:endParaRPr>
            </a:p>
          </p:txBody>
        </p:sp>
        <p:sp>
          <p:nvSpPr>
            <p:cNvPr id="4" name="Oval 3">
              <a:extLst>
                <a:ext uri="{FF2B5EF4-FFF2-40B4-BE49-F238E27FC236}">
                  <a16:creationId xmlns:a16="http://schemas.microsoft.com/office/drawing/2014/main" id="{164E9005-ADED-90C1-0FB8-FCAD58F66359}"/>
                </a:ext>
              </a:extLst>
            </p:cNvPr>
            <p:cNvSpPr/>
            <p:nvPr/>
          </p:nvSpPr>
          <p:spPr>
            <a:xfrm>
              <a:off x="4859113" y="2584007"/>
              <a:ext cx="2465402" cy="2089799"/>
            </a:xfrm>
            <a:prstGeom prst="ellipse">
              <a:avLst/>
            </a:prstGeom>
          </p:spPr>
          <p:style>
            <a:lnRef idx="0">
              <a:schemeClr val="accent5"/>
            </a:lnRef>
            <a:fillRef idx="3">
              <a:schemeClr val="accent5"/>
            </a:fillRef>
            <a:effectRef idx="3">
              <a:schemeClr val="accent5"/>
            </a:effectRef>
            <a:fontRef idx="minor">
              <a:schemeClr val="lt1"/>
            </a:fontRef>
          </p:style>
          <p:txBody>
            <a:bodyPr lIns="91440" tIns="45720" rIns="91440" bIns="45720" rtlCol="0" anchor="ctr"/>
            <a:lstStyle/>
            <a:p>
              <a:pPr algn="ctr"/>
              <a:r>
                <a:rPr lang="en-US" sz="2000" b="1">
                  <a:ea typeface="Calibri"/>
                  <a:cs typeface="Calibri"/>
                </a:rPr>
                <a:t>Theoretical Analysis</a:t>
              </a:r>
            </a:p>
            <a:p>
              <a:pPr algn="ctr"/>
              <a:r>
                <a:rPr lang="en-US" sz="2000">
                  <a:ea typeface="Calibri"/>
                  <a:cs typeface="Calibri"/>
                </a:rPr>
                <a:t>Stage-by-stage</a:t>
              </a:r>
            </a:p>
          </p:txBody>
        </p:sp>
        <p:cxnSp>
          <p:nvCxnSpPr>
            <p:cNvPr id="13" name="Straight Arrow Connector 12">
              <a:extLst>
                <a:ext uri="{FF2B5EF4-FFF2-40B4-BE49-F238E27FC236}">
                  <a16:creationId xmlns:a16="http://schemas.microsoft.com/office/drawing/2014/main" id="{0A0D0D6D-D009-630D-9750-E3B6E5A235A9}"/>
                </a:ext>
              </a:extLst>
            </p:cNvPr>
            <p:cNvCxnSpPr/>
            <p:nvPr/>
          </p:nvCxnSpPr>
          <p:spPr>
            <a:xfrm>
              <a:off x="7338494" y="3620163"/>
              <a:ext cx="822923" cy="5753"/>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8F8A426A-26B8-6E11-DE08-4F6D62F8FAC1}"/>
                </a:ext>
              </a:extLst>
            </p:cNvPr>
            <p:cNvCxnSpPr/>
            <p:nvPr/>
          </p:nvCxnSpPr>
          <p:spPr>
            <a:xfrm>
              <a:off x="4101110" y="3615267"/>
              <a:ext cx="726420" cy="266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7" name="Connector: Curved 16">
              <a:extLst>
                <a:ext uri="{FF2B5EF4-FFF2-40B4-BE49-F238E27FC236}">
                  <a16:creationId xmlns:a16="http://schemas.microsoft.com/office/drawing/2014/main" id="{E2FF367D-F049-CF92-5FEC-EC38467DFBDB}"/>
                </a:ext>
              </a:extLst>
            </p:cNvPr>
            <p:cNvCxnSpPr/>
            <p:nvPr/>
          </p:nvCxnSpPr>
          <p:spPr>
            <a:xfrm>
              <a:off x="6093796" y="2033359"/>
              <a:ext cx="2116868" cy="638951"/>
            </a:xfrm>
            <a:prstGeom prst="curvedConnector3">
              <a:avLst/>
            </a:prstGeom>
            <a:ln w="57150">
              <a:tailEnd type="triangle"/>
            </a:ln>
          </p:spPr>
          <p:style>
            <a:lnRef idx="1">
              <a:schemeClr val="accent6"/>
            </a:lnRef>
            <a:fillRef idx="0">
              <a:schemeClr val="accent6"/>
            </a:fillRef>
            <a:effectRef idx="0">
              <a:schemeClr val="accent6"/>
            </a:effectRef>
            <a:fontRef idx="minor">
              <a:schemeClr val="tx1"/>
            </a:fontRef>
          </p:style>
        </p:cxnSp>
        <p:cxnSp>
          <p:nvCxnSpPr>
            <p:cNvPr id="18" name="Connector: Curved 17">
              <a:extLst>
                <a:ext uri="{FF2B5EF4-FFF2-40B4-BE49-F238E27FC236}">
                  <a16:creationId xmlns:a16="http://schemas.microsoft.com/office/drawing/2014/main" id="{D091F3A2-5F6A-28E8-29CC-03EFEF1E408D}"/>
                </a:ext>
              </a:extLst>
            </p:cNvPr>
            <p:cNvCxnSpPr/>
            <p:nvPr/>
          </p:nvCxnSpPr>
          <p:spPr>
            <a:xfrm flipH="1">
              <a:off x="4014810" y="2032524"/>
              <a:ext cx="2055304" cy="678799"/>
            </a:xfrm>
            <a:prstGeom prst="curvedConnector3">
              <a:avLst/>
            </a:prstGeom>
            <a:ln w="57150">
              <a:tailEnd type="triangle"/>
            </a:ln>
          </p:spPr>
          <p:style>
            <a:lnRef idx="1">
              <a:schemeClr val="accent4"/>
            </a:lnRef>
            <a:fillRef idx="0">
              <a:schemeClr val="accent4"/>
            </a:fillRef>
            <a:effectRef idx="0">
              <a:schemeClr val="accent4"/>
            </a:effectRef>
            <a:fontRef idx="minor">
              <a:schemeClr val="tx1"/>
            </a:fontRef>
          </p:style>
        </p:cxnSp>
      </p:grpSp>
    </p:spTree>
    <p:extLst>
      <p:ext uri="{BB962C8B-B14F-4D97-AF65-F5344CB8AC3E}">
        <p14:creationId xmlns:p14="http://schemas.microsoft.com/office/powerpoint/2010/main" val="40959356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3D46C-E0A0-5845-4856-38472DB13BE9}"/>
              </a:ext>
            </a:extLst>
          </p:cNvPr>
          <p:cNvSpPr>
            <a:spLocks noGrp="1"/>
          </p:cNvSpPr>
          <p:nvPr>
            <p:ph type="title"/>
          </p:nvPr>
        </p:nvSpPr>
        <p:spPr/>
        <p:txBody>
          <a:bodyPr/>
          <a:lstStyle/>
          <a:p>
            <a:r>
              <a:rPr lang="en-US"/>
              <a:t>Stage 1: Comprehension Transformation</a:t>
            </a:r>
          </a:p>
        </p:txBody>
      </p:sp>
      <p:graphicFrame>
        <p:nvGraphicFramePr>
          <p:cNvPr id="6" name="Table 5">
            <a:extLst>
              <a:ext uri="{FF2B5EF4-FFF2-40B4-BE49-F238E27FC236}">
                <a16:creationId xmlns:a16="http://schemas.microsoft.com/office/drawing/2014/main" id="{8F9701D5-3B3D-78F9-CC48-13A7BF2BD96B}"/>
              </a:ext>
            </a:extLst>
          </p:cNvPr>
          <p:cNvGraphicFramePr>
            <a:graphicFrameLocks noGrp="1"/>
          </p:cNvGraphicFramePr>
          <p:nvPr>
            <p:extLst>
              <p:ext uri="{D42A27DB-BD31-4B8C-83A1-F6EECF244321}">
                <p14:modId xmlns:p14="http://schemas.microsoft.com/office/powerpoint/2010/main" val="428316551"/>
              </p:ext>
            </p:extLst>
          </p:nvPr>
        </p:nvGraphicFramePr>
        <p:xfrm>
          <a:off x="524302" y="1765942"/>
          <a:ext cx="5407546" cy="2820663"/>
        </p:xfrm>
        <a:graphic>
          <a:graphicData uri="http://schemas.openxmlformats.org/drawingml/2006/table">
            <a:tbl>
              <a:tblPr firstRow="1" bandRow="1">
                <a:tableStyleId>{93296810-A885-4BE3-A3E7-6D5BEEA58F35}</a:tableStyleId>
              </a:tblPr>
              <a:tblGrid>
                <a:gridCol w="5407546">
                  <a:extLst>
                    <a:ext uri="{9D8B030D-6E8A-4147-A177-3AD203B41FA5}">
                      <a16:colId xmlns:a16="http://schemas.microsoft.com/office/drawing/2014/main" val="281937408"/>
                    </a:ext>
                  </a:extLst>
                </a:gridCol>
              </a:tblGrid>
              <a:tr h="45862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a:t>BENEFITS</a:t>
                      </a:r>
                      <a:endParaRPr lang="en-US"/>
                    </a:p>
                  </a:txBody>
                  <a:tcPr anchor="ctr"/>
                </a:tc>
                <a:extLst>
                  <a:ext uri="{0D108BD9-81ED-4DB2-BD59-A6C34878D82A}">
                    <a16:rowId xmlns:a16="http://schemas.microsoft.com/office/drawing/2014/main" val="2418496753"/>
                  </a:ext>
                </a:extLst>
              </a:tr>
              <a:tr h="767501">
                <a:tc>
                  <a:txBody>
                    <a:bodyPr/>
                    <a:lstStyle/>
                    <a:p>
                      <a:pPr marL="0" marR="0" lvl="0" indent="0" algn="ctr">
                        <a:lnSpc>
                          <a:spcPct val="100000"/>
                        </a:lnSpc>
                        <a:spcBef>
                          <a:spcPts val="0"/>
                        </a:spcBef>
                        <a:spcAft>
                          <a:spcPts val="0"/>
                        </a:spcAft>
                        <a:buNone/>
                      </a:pPr>
                      <a:r>
                        <a:rPr lang="en-US" sz="2400"/>
                        <a:t>Health literacy adaptation</a:t>
                      </a:r>
                    </a:p>
                  </a:txBody>
                  <a:tcPr anchor="ctr"/>
                </a:tc>
                <a:extLst>
                  <a:ext uri="{0D108BD9-81ED-4DB2-BD59-A6C34878D82A}">
                    <a16:rowId xmlns:a16="http://schemas.microsoft.com/office/drawing/2014/main" val="2957920452"/>
                  </a:ext>
                </a:extLst>
              </a:tr>
              <a:tr h="767501">
                <a:tc>
                  <a:txBody>
                    <a:bodyPr/>
                    <a:lstStyle/>
                    <a:p>
                      <a:pPr marL="0" marR="0" lvl="0" indent="0" algn="ctr">
                        <a:lnSpc>
                          <a:spcPct val="100000"/>
                        </a:lnSpc>
                        <a:spcBef>
                          <a:spcPts val="0"/>
                        </a:spcBef>
                        <a:spcAft>
                          <a:spcPts val="0"/>
                        </a:spcAft>
                        <a:buNone/>
                      </a:pPr>
                      <a:r>
                        <a:rPr lang="en-US" sz="2400"/>
                        <a:t>Medical term clarification</a:t>
                      </a:r>
                    </a:p>
                  </a:txBody>
                  <a:tcPr anchor="ctr"/>
                </a:tc>
                <a:extLst>
                  <a:ext uri="{0D108BD9-81ED-4DB2-BD59-A6C34878D82A}">
                    <a16:rowId xmlns:a16="http://schemas.microsoft.com/office/drawing/2014/main" val="2593329379"/>
                  </a:ext>
                </a:extLst>
              </a:tr>
              <a:tr h="767501">
                <a:tc>
                  <a:txBody>
                    <a:bodyPr/>
                    <a:lstStyle/>
                    <a:p>
                      <a:pPr marL="0" marR="0" lvl="0" indent="0" algn="ctr">
                        <a:lnSpc>
                          <a:spcPct val="100000"/>
                        </a:lnSpc>
                        <a:spcBef>
                          <a:spcPts val="0"/>
                        </a:spcBef>
                        <a:spcAft>
                          <a:spcPts val="0"/>
                        </a:spcAft>
                        <a:buNone/>
                      </a:pPr>
                      <a:r>
                        <a:rPr lang="en-US" sz="2400"/>
                        <a:t>Personalized phrasing</a:t>
                      </a:r>
                    </a:p>
                  </a:txBody>
                  <a:tcPr anchor="ctr"/>
                </a:tc>
                <a:extLst>
                  <a:ext uri="{0D108BD9-81ED-4DB2-BD59-A6C34878D82A}">
                    <a16:rowId xmlns:a16="http://schemas.microsoft.com/office/drawing/2014/main" val="1423014968"/>
                  </a:ext>
                </a:extLst>
              </a:tr>
            </a:tbl>
          </a:graphicData>
        </a:graphic>
      </p:graphicFrame>
      <p:graphicFrame>
        <p:nvGraphicFramePr>
          <p:cNvPr id="8" name="Table 7">
            <a:extLst>
              <a:ext uri="{FF2B5EF4-FFF2-40B4-BE49-F238E27FC236}">
                <a16:creationId xmlns:a16="http://schemas.microsoft.com/office/drawing/2014/main" id="{FE81FAAB-90CA-8F4A-34C2-F66575C9B64F}"/>
              </a:ext>
            </a:extLst>
          </p:cNvPr>
          <p:cNvGraphicFramePr>
            <a:graphicFrameLocks noGrp="1"/>
          </p:cNvGraphicFramePr>
          <p:nvPr>
            <p:extLst>
              <p:ext uri="{D42A27DB-BD31-4B8C-83A1-F6EECF244321}">
                <p14:modId xmlns:p14="http://schemas.microsoft.com/office/powerpoint/2010/main" val="4220717761"/>
              </p:ext>
            </p:extLst>
          </p:nvPr>
        </p:nvGraphicFramePr>
        <p:xfrm>
          <a:off x="6274937" y="1765942"/>
          <a:ext cx="5407546" cy="2809956"/>
        </p:xfrm>
        <a:graphic>
          <a:graphicData uri="http://schemas.openxmlformats.org/drawingml/2006/table">
            <a:tbl>
              <a:tblPr firstRow="1" bandRow="1">
                <a:tableStyleId>{21E4AEA4-8DFA-4A89-87EB-49C32662AFE0}</a:tableStyleId>
              </a:tblPr>
              <a:tblGrid>
                <a:gridCol w="5407546">
                  <a:extLst>
                    <a:ext uri="{9D8B030D-6E8A-4147-A177-3AD203B41FA5}">
                      <a16:colId xmlns:a16="http://schemas.microsoft.com/office/drawing/2014/main" val="281937408"/>
                    </a:ext>
                  </a:extLst>
                </a:gridCol>
              </a:tblGrid>
              <a:tr h="45649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a:t>CHALLENGES</a:t>
                      </a:r>
                      <a:endParaRPr lang="en-US"/>
                    </a:p>
                  </a:txBody>
                  <a:tcPr anchor="ctr"/>
                </a:tc>
                <a:extLst>
                  <a:ext uri="{0D108BD9-81ED-4DB2-BD59-A6C34878D82A}">
                    <a16:rowId xmlns:a16="http://schemas.microsoft.com/office/drawing/2014/main" val="2418496753"/>
                  </a:ext>
                </a:extLst>
              </a:tr>
              <a:tr h="763932">
                <a:tc>
                  <a:txBody>
                    <a:bodyPr/>
                    <a:lstStyle/>
                    <a:p>
                      <a:pPr marL="0" marR="0" lvl="0" indent="0" algn="ctr" rtl="0" eaLnBrk="1" fontAlgn="auto" latinLnBrk="0" hangingPunct="1">
                        <a:lnSpc>
                          <a:spcPct val="100000"/>
                        </a:lnSpc>
                        <a:spcBef>
                          <a:spcPts val="0"/>
                        </a:spcBef>
                        <a:spcAft>
                          <a:spcPts val="0"/>
                        </a:spcAft>
                        <a:buClrTx/>
                        <a:buSzTx/>
                        <a:buFontTx/>
                        <a:buNone/>
                      </a:pPr>
                      <a:r>
                        <a:rPr lang="en-US" sz="2400"/>
                        <a:t>Loss of standardization</a:t>
                      </a:r>
                      <a:r>
                        <a:rPr lang="en-US" sz="2400" baseline="30000"/>
                        <a:t>1</a:t>
                      </a:r>
                      <a:r>
                        <a:rPr lang="en-US" sz="2400"/>
                        <a:t> </a:t>
                      </a:r>
                      <a:endParaRPr lang="en-US"/>
                    </a:p>
                  </a:txBody>
                  <a:tcPr anchor="ctr"/>
                </a:tc>
                <a:extLst>
                  <a:ext uri="{0D108BD9-81ED-4DB2-BD59-A6C34878D82A}">
                    <a16:rowId xmlns:a16="http://schemas.microsoft.com/office/drawing/2014/main" val="2957920452"/>
                  </a:ext>
                </a:extLst>
              </a:tr>
              <a:tr h="763932">
                <a:tc>
                  <a:txBody>
                    <a:bodyPr/>
                    <a:lstStyle/>
                    <a:p>
                      <a:pPr marL="0" marR="0" lvl="0" indent="0" algn="ctr" rtl="0" eaLnBrk="1" fontAlgn="auto" latinLnBrk="0" hangingPunct="1">
                        <a:lnSpc>
                          <a:spcPct val="100000"/>
                        </a:lnSpc>
                        <a:spcBef>
                          <a:spcPts val="0"/>
                        </a:spcBef>
                        <a:spcAft>
                          <a:spcPts val="0"/>
                        </a:spcAft>
                        <a:buClrTx/>
                        <a:buSzTx/>
                        <a:buFontTx/>
                        <a:buNone/>
                      </a:pPr>
                      <a:r>
                        <a:rPr lang="en-US" sz="2400"/>
                        <a:t>Reduced comparability</a:t>
                      </a:r>
                      <a:r>
                        <a:rPr lang="en-US" sz="2400" baseline="30000"/>
                        <a:t>2</a:t>
                      </a:r>
                      <a:endParaRPr lang="en-US" baseline="30000"/>
                    </a:p>
                  </a:txBody>
                  <a:tcPr anchor="ctr"/>
                </a:tc>
                <a:extLst>
                  <a:ext uri="{0D108BD9-81ED-4DB2-BD59-A6C34878D82A}">
                    <a16:rowId xmlns:a16="http://schemas.microsoft.com/office/drawing/2014/main" val="1239117041"/>
                  </a:ext>
                </a:extLst>
              </a:tr>
              <a:tr h="763932">
                <a:tc>
                  <a:txBody>
                    <a:bodyPr/>
                    <a:lstStyle/>
                    <a:p>
                      <a:pPr marL="0" marR="0" lvl="0" indent="0" algn="ctr" rtl="0" eaLnBrk="1" fontAlgn="auto" latinLnBrk="0" hangingPunct="1">
                        <a:lnSpc>
                          <a:spcPct val="100000"/>
                        </a:lnSpc>
                        <a:spcBef>
                          <a:spcPts val="0"/>
                        </a:spcBef>
                        <a:spcAft>
                          <a:spcPts val="0"/>
                        </a:spcAft>
                        <a:buClrTx/>
                        <a:buSzTx/>
                        <a:buFontTx/>
                        <a:buNone/>
                      </a:pPr>
                      <a:r>
                        <a:rPr lang="en-US" sz="2400"/>
                        <a:t>AI training bias</a:t>
                      </a:r>
                      <a:r>
                        <a:rPr lang="en-US" sz="2400" baseline="30000"/>
                        <a:t>3</a:t>
                      </a:r>
                      <a:endParaRPr lang="en-US" baseline="30000"/>
                    </a:p>
                  </a:txBody>
                  <a:tcPr anchor="ctr"/>
                </a:tc>
                <a:extLst>
                  <a:ext uri="{0D108BD9-81ED-4DB2-BD59-A6C34878D82A}">
                    <a16:rowId xmlns:a16="http://schemas.microsoft.com/office/drawing/2014/main" val="3247619048"/>
                  </a:ext>
                </a:extLst>
              </a:tr>
            </a:tbl>
          </a:graphicData>
        </a:graphic>
      </p:graphicFrame>
      <p:sp>
        <p:nvSpPr>
          <p:cNvPr id="4" name="Rectangle 3">
            <a:extLst>
              <a:ext uri="{FF2B5EF4-FFF2-40B4-BE49-F238E27FC236}">
                <a16:creationId xmlns:a16="http://schemas.microsoft.com/office/drawing/2014/main" id="{58C3B939-4BFD-B699-7E6C-0744DE281F4C}"/>
              </a:ext>
            </a:extLst>
          </p:cNvPr>
          <p:cNvSpPr/>
          <p:nvPr/>
        </p:nvSpPr>
        <p:spPr>
          <a:xfrm>
            <a:off x="527538" y="4751391"/>
            <a:ext cx="11160404" cy="821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b="1"/>
              <a:t>Core Trade-off: Personalization vs. Standardization</a:t>
            </a:r>
            <a:endParaRPr lang="en-US" sz="3200" b="1">
              <a:ea typeface="Calibri"/>
              <a:cs typeface="Calibri"/>
            </a:endParaRPr>
          </a:p>
        </p:txBody>
      </p:sp>
      <p:sp>
        <p:nvSpPr>
          <p:cNvPr id="3" name="TextBox 2">
            <a:extLst>
              <a:ext uri="{FF2B5EF4-FFF2-40B4-BE49-F238E27FC236}">
                <a16:creationId xmlns:a16="http://schemas.microsoft.com/office/drawing/2014/main" id="{35A5D814-9F8A-6AA9-7BCA-F8509F324BF4}"/>
              </a:ext>
            </a:extLst>
          </p:cNvPr>
          <p:cNvSpPr txBox="1"/>
          <p:nvPr/>
        </p:nvSpPr>
        <p:spPr>
          <a:xfrm>
            <a:off x="327713" y="6355328"/>
            <a:ext cx="737381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i="1">
                <a:ea typeface="Calibri" panose="020F0502020204030204"/>
                <a:cs typeface="Calibri" panose="020F0502020204030204"/>
              </a:rPr>
              <a:t>1. Conrad &amp; Schober, 2000; 2. Schaeffer &amp; Maynard, 2008; 3. Conrad et al., 2014</a:t>
            </a:r>
          </a:p>
        </p:txBody>
      </p:sp>
    </p:spTree>
    <p:extLst>
      <p:ext uri="{BB962C8B-B14F-4D97-AF65-F5344CB8AC3E}">
        <p14:creationId xmlns:p14="http://schemas.microsoft.com/office/powerpoint/2010/main" val="2563255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75180-6429-6C70-25F1-951918A192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08CF82-25B0-7602-A49A-BB0EB941D00E}"/>
              </a:ext>
            </a:extLst>
          </p:cNvPr>
          <p:cNvSpPr>
            <a:spLocks noGrp="1"/>
          </p:cNvSpPr>
          <p:nvPr>
            <p:ph type="title"/>
          </p:nvPr>
        </p:nvSpPr>
        <p:spPr/>
        <p:txBody>
          <a:bodyPr/>
          <a:lstStyle/>
          <a:p>
            <a:r>
              <a:rPr lang="en-US"/>
              <a:t>Stage 2: Retrieval Transformation</a:t>
            </a:r>
          </a:p>
        </p:txBody>
      </p:sp>
      <p:graphicFrame>
        <p:nvGraphicFramePr>
          <p:cNvPr id="6" name="Table 5">
            <a:extLst>
              <a:ext uri="{FF2B5EF4-FFF2-40B4-BE49-F238E27FC236}">
                <a16:creationId xmlns:a16="http://schemas.microsoft.com/office/drawing/2014/main" id="{636D9EAC-5F6C-927C-662A-D1ED98B66003}"/>
              </a:ext>
            </a:extLst>
          </p:cNvPr>
          <p:cNvGraphicFramePr>
            <a:graphicFrameLocks noGrp="1"/>
          </p:cNvGraphicFramePr>
          <p:nvPr>
            <p:extLst>
              <p:ext uri="{D42A27DB-BD31-4B8C-83A1-F6EECF244321}">
                <p14:modId xmlns:p14="http://schemas.microsoft.com/office/powerpoint/2010/main" val="1032296029"/>
              </p:ext>
            </p:extLst>
          </p:nvPr>
        </p:nvGraphicFramePr>
        <p:xfrm>
          <a:off x="524302" y="1832436"/>
          <a:ext cx="5407546" cy="2695923"/>
        </p:xfrm>
        <a:graphic>
          <a:graphicData uri="http://schemas.openxmlformats.org/drawingml/2006/table">
            <a:tbl>
              <a:tblPr firstRow="1" bandRow="1">
                <a:tableStyleId>{93296810-A885-4BE3-A3E7-6D5BEEA58F35}</a:tableStyleId>
              </a:tblPr>
              <a:tblGrid>
                <a:gridCol w="5407546">
                  <a:extLst>
                    <a:ext uri="{9D8B030D-6E8A-4147-A177-3AD203B41FA5}">
                      <a16:colId xmlns:a16="http://schemas.microsoft.com/office/drawing/2014/main" val="281937408"/>
                    </a:ext>
                  </a:extLst>
                </a:gridCol>
              </a:tblGrid>
              <a:tr h="5081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a:t>BENEFITS</a:t>
                      </a:r>
                      <a:endParaRPr lang="en-US"/>
                    </a:p>
                  </a:txBody>
                  <a:tcPr anchor="ctr"/>
                </a:tc>
                <a:extLst>
                  <a:ext uri="{0D108BD9-81ED-4DB2-BD59-A6C34878D82A}">
                    <a16:rowId xmlns:a16="http://schemas.microsoft.com/office/drawing/2014/main" val="2418496753"/>
                  </a:ext>
                </a:extLst>
              </a:tr>
              <a:tr h="725921">
                <a:tc>
                  <a:txBody>
                    <a:bodyPr/>
                    <a:lstStyle/>
                    <a:p>
                      <a:pPr marL="0" lvl="0" indent="0" algn="ctr">
                        <a:lnSpc>
                          <a:spcPct val="100000"/>
                        </a:lnSpc>
                        <a:buNone/>
                      </a:pPr>
                      <a:r>
                        <a:rPr lang="en-US" sz="2400" b="0" i="0" u="none" strike="noStrike" baseline="0" noProof="0">
                          <a:solidFill>
                            <a:srgbClr val="000000"/>
                          </a:solidFill>
                          <a:latin typeface="Calibri"/>
                        </a:rPr>
                        <a:t>Systematic symptom reviews</a:t>
                      </a:r>
                    </a:p>
                  </a:txBody>
                  <a:tcPr anchor="ctr"/>
                </a:tc>
                <a:extLst>
                  <a:ext uri="{0D108BD9-81ED-4DB2-BD59-A6C34878D82A}">
                    <a16:rowId xmlns:a16="http://schemas.microsoft.com/office/drawing/2014/main" val="2957920452"/>
                  </a:ext>
                </a:extLst>
              </a:tr>
              <a:tr h="725921">
                <a:tc>
                  <a:txBody>
                    <a:bodyPr/>
                    <a:lstStyle/>
                    <a:p>
                      <a:pPr marL="0" lvl="0" indent="0" algn="ctr">
                        <a:lnSpc>
                          <a:spcPct val="100000"/>
                        </a:lnSpc>
                        <a:buNone/>
                      </a:pPr>
                      <a:r>
                        <a:rPr lang="en-US" sz="2400" b="0" i="0" u="none" strike="noStrike" baseline="0" noProof="0">
                          <a:solidFill>
                            <a:srgbClr val="000000"/>
                          </a:solidFill>
                          <a:latin typeface="Calibri"/>
                        </a:rPr>
                        <a:t>Chronological sequencing</a:t>
                      </a:r>
                    </a:p>
                  </a:txBody>
                  <a:tcPr anchor="ctr"/>
                </a:tc>
                <a:extLst>
                  <a:ext uri="{0D108BD9-81ED-4DB2-BD59-A6C34878D82A}">
                    <a16:rowId xmlns:a16="http://schemas.microsoft.com/office/drawing/2014/main" val="2593329379"/>
                  </a:ext>
                </a:extLst>
              </a:tr>
              <a:tr h="725921">
                <a:tc>
                  <a:txBody>
                    <a:bodyPr/>
                    <a:lstStyle/>
                    <a:p>
                      <a:pPr marL="0" lvl="0" indent="0" algn="ctr">
                        <a:lnSpc>
                          <a:spcPct val="100000"/>
                        </a:lnSpc>
                        <a:buNone/>
                      </a:pPr>
                      <a:r>
                        <a:rPr lang="en-US" sz="2400" b="0" i="0" u="none" strike="noStrike" baseline="0" noProof="0">
                          <a:solidFill>
                            <a:srgbClr val="000000"/>
                          </a:solidFill>
                          <a:latin typeface="Calibri"/>
                        </a:rPr>
                        <a:t>Memory prompting</a:t>
                      </a:r>
                    </a:p>
                  </a:txBody>
                  <a:tcPr anchor="ctr"/>
                </a:tc>
                <a:extLst>
                  <a:ext uri="{0D108BD9-81ED-4DB2-BD59-A6C34878D82A}">
                    <a16:rowId xmlns:a16="http://schemas.microsoft.com/office/drawing/2014/main" val="1423014968"/>
                  </a:ext>
                </a:extLst>
              </a:tr>
            </a:tbl>
          </a:graphicData>
        </a:graphic>
      </p:graphicFrame>
      <p:graphicFrame>
        <p:nvGraphicFramePr>
          <p:cNvPr id="8" name="Table 7">
            <a:extLst>
              <a:ext uri="{FF2B5EF4-FFF2-40B4-BE49-F238E27FC236}">
                <a16:creationId xmlns:a16="http://schemas.microsoft.com/office/drawing/2014/main" id="{F172D427-1033-CDF1-8649-FDAC6091DB9A}"/>
              </a:ext>
            </a:extLst>
          </p:cNvPr>
          <p:cNvGraphicFramePr>
            <a:graphicFrameLocks noGrp="1"/>
          </p:cNvGraphicFramePr>
          <p:nvPr>
            <p:extLst>
              <p:ext uri="{D42A27DB-BD31-4B8C-83A1-F6EECF244321}">
                <p14:modId xmlns:p14="http://schemas.microsoft.com/office/powerpoint/2010/main" val="1884745707"/>
              </p:ext>
            </p:extLst>
          </p:nvPr>
        </p:nvGraphicFramePr>
        <p:xfrm>
          <a:off x="6274937" y="1832436"/>
          <a:ext cx="5407546" cy="2695668"/>
        </p:xfrm>
        <a:graphic>
          <a:graphicData uri="http://schemas.openxmlformats.org/drawingml/2006/table">
            <a:tbl>
              <a:tblPr firstRow="1" bandRow="1">
                <a:tableStyleId>{21E4AEA4-8DFA-4A89-87EB-49C32662AFE0}</a:tableStyleId>
              </a:tblPr>
              <a:tblGrid>
                <a:gridCol w="5407546">
                  <a:extLst>
                    <a:ext uri="{9D8B030D-6E8A-4147-A177-3AD203B41FA5}">
                      <a16:colId xmlns:a16="http://schemas.microsoft.com/office/drawing/2014/main" val="281937408"/>
                    </a:ext>
                  </a:extLst>
                </a:gridCol>
              </a:tblGrid>
              <a:tr h="50808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a:t>CHALLENGES</a:t>
                      </a:r>
                      <a:endParaRPr lang="en-US"/>
                    </a:p>
                  </a:txBody>
                  <a:tcPr anchor="ctr"/>
                </a:tc>
                <a:extLst>
                  <a:ext uri="{0D108BD9-81ED-4DB2-BD59-A6C34878D82A}">
                    <a16:rowId xmlns:a16="http://schemas.microsoft.com/office/drawing/2014/main" val="2418496753"/>
                  </a:ext>
                </a:extLst>
              </a:tr>
              <a:tr h="725836">
                <a:tc>
                  <a:txBody>
                    <a:bodyPr/>
                    <a:lstStyle/>
                    <a:p>
                      <a:pPr marL="0" lvl="0" indent="0" algn="ctr">
                        <a:lnSpc>
                          <a:spcPct val="100000"/>
                        </a:lnSpc>
                        <a:buNone/>
                      </a:pPr>
                      <a:r>
                        <a:rPr lang="en-US" sz="2400" b="0" i="0" u="none" strike="noStrike" baseline="0" noProof="0">
                          <a:solidFill>
                            <a:srgbClr val="000000"/>
                          </a:solidFill>
                          <a:latin typeface="Calibri"/>
                        </a:rPr>
                        <a:t>Symptom suggestion</a:t>
                      </a:r>
                      <a:r>
                        <a:rPr lang="en-US" sz="2400" b="0" i="0" u="none" strike="noStrike" baseline="30000" noProof="0">
                          <a:solidFill>
                            <a:srgbClr val="000000"/>
                          </a:solidFill>
                          <a:latin typeface="Calibri"/>
                        </a:rPr>
                        <a:t>1</a:t>
                      </a:r>
                      <a:endParaRPr lang="en-US" baseline="30000"/>
                    </a:p>
                  </a:txBody>
                  <a:tcPr anchor="ctr"/>
                </a:tc>
                <a:extLst>
                  <a:ext uri="{0D108BD9-81ED-4DB2-BD59-A6C34878D82A}">
                    <a16:rowId xmlns:a16="http://schemas.microsoft.com/office/drawing/2014/main" val="2957920452"/>
                  </a:ext>
                </a:extLst>
              </a:tr>
              <a:tr h="725836">
                <a:tc>
                  <a:txBody>
                    <a:bodyPr/>
                    <a:lstStyle/>
                    <a:p>
                      <a:pPr marL="0" lvl="0" indent="0" algn="ctr">
                        <a:lnSpc>
                          <a:spcPct val="100000"/>
                        </a:lnSpc>
                        <a:buNone/>
                      </a:pPr>
                      <a:r>
                        <a:rPr lang="en-US" sz="2400" b="0" i="0" u="none" strike="noStrike" baseline="0" noProof="0">
                          <a:solidFill>
                            <a:srgbClr val="000000"/>
                          </a:solidFill>
                          <a:latin typeface="Calibri"/>
                        </a:rPr>
                        <a:t>False affirmation</a:t>
                      </a:r>
                      <a:r>
                        <a:rPr lang="en-US" sz="2400" b="0" i="0" u="none" strike="noStrike" baseline="30000" noProof="0">
                          <a:solidFill>
                            <a:srgbClr val="000000"/>
                          </a:solidFill>
                          <a:latin typeface="Calibri"/>
                        </a:rPr>
                        <a:t>2</a:t>
                      </a:r>
                      <a:endParaRPr lang="en-US" baseline="30000"/>
                    </a:p>
                    <a:p>
                      <a:pPr marL="0" lvl="0" indent="0" algn="ctr">
                        <a:lnSpc>
                          <a:spcPct val="100000"/>
                        </a:lnSpc>
                        <a:buNone/>
                      </a:pPr>
                      <a:endParaRPr lang="en-US" sz="1600" b="0" i="0" u="none" strike="noStrike" baseline="0" noProof="0">
                        <a:solidFill>
                          <a:srgbClr val="000000"/>
                        </a:solidFill>
                        <a:latin typeface="Calibri"/>
                      </a:endParaRPr>
                    </a:p>
                  </a:txBody>
                  <a:tcPr anchor="ctr"/>
                </a:tc>
                <a:extLst>
                  <a:ext uri="{0D108BD9-81ED-4DB2-BD59-A6C34878D82A}">
                    <a16:rowId xmlns:a16="http://schemas.microsoft.com/office/drawing/2014/main" val="1239117041"/>
                  </a:ext>
                </a:extLst>
              </a:tr>
              <a:tr h="725836">
                <a:tc>
                  <a:txBody>
                    <a:bodyPr/>
                    <a:lstStyle/>
                    <a:p>
                      <a:pPr marL="0" lvl="0" indent="0" algn="ctr">
                        <a:lnSpc>
                          <a:spcPct val="100000"/>
                        </a:lnSpc>
                        <a:buNone/>
                      </a:pPr>
                      <a:r>
                        <a:rPr lang="en-US" sz="2400" b="0" i="0" u="none" strike="noStrike" baseline="0" noProof="0">
                          <a:solidFill>
                            <a:srgbClr val="000000"/>
                          </a:solidFill>
                          <a:latin typeface="Calibri"/>
                        </a:rPr>
                        <a:t>Memory contamination</a:t>
                      </a:r>
                      <a:r>
                        <a:rPr lang="en-US" sz="2400" b="0" i="0" u="none" strike="noStrike" baseline="30000" noProof="0">
                          <a:solidFill>
                            <a:srgbClr val="000000"/>
                          </a:solidFill>
                          <a:latin typeface="Calibri"/>
                        </a:rPr>
                        <a:t>3</a:t>
                      </a:r>
                    </a:p>
                  </a:txBody>
                  <a:tcPr anchor="ctr"/>
                </a:tc>
                <a:extLst>
                  <a:ext uri="{0D108BD9-81ED-4DB2-BD59-A6C34878D82A}">
                    <a16:rowId xmlns:a16="http://schemas.microsoft.com/office/drawing/2014/main" val="3247619048"/>
                  </a:ext>
                </a:extLst>
              </a:tr>
            </a:tbl>
          </a:graphicData>
        </a:graphic>
      </p:graphicFrame>
      <p:sp>
        <p:nvSpPr>
          <p:cNvPr id="4" name="Rectangle 3">
            <a:extLst>
              <a:ext uri="{FF2B5EF4-FFF2-40B4-BE49-F238E27FC236}">
                <a16:creationId xmlns:a16="http://schemas.microsoft.com/office/drawing/2014/main" id="{5D6E1343-EB49-D08F-DAEE-DDB786099567}"/>
              </a:ext>
            </a:extLst>
          </p:cNvPr>
          <p:cNvSpPr/>
          <p:nvPr/>
        </p:nvSpPr>
        <p:spPr>
          <a:xfrm>
            <a:off x="519658" y="4704751"/>
            <a:ext cx="11160093" cy="97763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b="1">
                <a:ea typeface="+mn-lt"/>
                <a:cs typeface="+mn-lt"/>
              </a:rPr>
              <a:t>Critical Risk: AI suggestions may create false memories or symptom endorsement</a:t>
            </a:r>
            <a:endParaRPr lang="en-US" sz="3200" b="1">
              <a:ea typeface="Calibri"/>
              <a:cs typeface="Calibri"/>
            </a:endParaRPr>
          </a:p>
        </p:txBody>
      </p:sp>
      <p:sp>
        <p:nvSpPr>
          <p:cNvPr id="5" name="TextBox 4">
            <a:extLst>
              <a:ext uri="{FF2B5EF4-FFF2-40B4-BE49-F238E27FC236}">
                <a16:creationId xmlns:a16="http://schemas.microsoft.com/office/drawing/2014/main" id="{79550D1E-B2CD-553F-2DC3-67A47C88B822}"/>
              </a:ext>
            </a:extLst>
          </p:cNvPr>
          <p:cNvSpPr txBox="1"/>
          <p:nvPr/>
        </p:nvSpPr>
        <p:spPr>
          <a:xfrm>
            <a:off x="327713" y="6355328"/>
            <a:ext cx="737381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i="1">
                <a:ea typeface="Calibri" panose="020F0502020204030204"/>
                <a:cs typeface="Calibri" panose="020F0502020204030204"/>
              </a:rPr>
              <a:t>1. Fisher &amp; Quigley, 1992; 2. Lee et al., 1999; 3. Conway, 2005</a:t>
            </a:r>
          </a:p>
        </p:txBody>
      </p:sp>
    </p:spTree>
    <p:extLst>
      <p:ext uri="{BB962C8B-B14F-4D97-AF65-F5344CB8AC3E}">
        <p14:creationId xmlns:p14="http://schemas.microsoft.com/office/powerpoint/2010/main" val="9556250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3CCE7-9625-F55C-7E99-91548D2845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A2E286-71A5-02EA-D123-1908748E5E6F}"/>
              </a:ext>
            </a:extLst>
          </p:cNvPr>
          <p:cNvSpPr>
            <a:spLocks noGrp="1"/>
          </p:cNvSpPr>
          <p:nvPr>
            <p:ph type="title"/>
          </p:nvPr>
        </p:nvSpPr>
        <p:spPr/>
        <p:txBody>
          <a:bodyPr/>
          <a:lstStyle/>
          <a:p>
            <a:r>
              <a:rPr lang="en-US"/>
              <a:t>Stage 3: Judgement Transformation</a:t>
            </a:r>
            <a:endParaRPr lang="en-US">
              <a:ea typeface="Calibri Light"/>
              <a:cs typeface="Calibri Light"/>
            </a:endParaRPr>
          </a:p>
        </p:txBody>
      </p:sp>
      <p:graphicFrame>
        <p:nvGraphicFramePr>
          <p:cNvPr id="6" name="Table 5">
            <a:extLst>
              <a:ext uri="{FF2B5EF4-FFF2-40B4-BE49-F238E27FC236}">
                <a16:creationId xmlns:a16="http://schemas.microsoft.com/office/drawing/2014/main" id="{1F381BA8-8D6A-505C-8D6F-A98FB7DA8F4F}"/>
              </a:ext>
            </a:extLst>
          </p:cNvPr>
          <p:cNvGraphicFramePr>
            <a:graphicFrameLocks noGrp="1"/>
          </p:cNvGraphicFramePr>
          <p:nvPr>
            <p:extLst>
              <p:ext uri="{D42A27DB-BD31-4B8C-83A1-F6EECF244321}">
                <p14:modId xmlns:p14="http://schemas.microsoft.com/office/powerpoint/2010/main" val="1844032252"/>
              </p:ext>
            </p:extLst>
          </p:nvPr>
        </p:nvGraphicFramePr>
        <p:xfrm>
          <a:off x="524302" y="1834327"/>
          <a:ext cx="5407546" cy="2747538"/>
        </p:xfrm>
        <a:graphic>
          <a:graphicData uri="http://schemas.openxmlformats.org/drawingml/2006/table">
            <a:tbl>
              <a:tblPr firstRow="1" bandRow="1">
                <a:tableStyleId>{93296810-A885-4BE3-A3E7-6D5BEEA58F35}</a:tableStyleId>
              </a:tblPr>
              <a:tblGrid>
                <a:gridCol w="5407546">
                  <a:extLst>
                    <a:ext uri="{9D8B030D-6E8A-4147-A177-3AD203B41FA5}">
                      <a16:colId xmlns:a16="http://schemas.microsoft.com/office/drawing/2014/main" val="281937408"/>
                    </a:ext>
                  </a:extLst>
                </a:gridCol>
              </a:tblGrid>
              <a:tr h="44406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a:t>BENEFITS</a:t>
                      </a:r>
                      <a:endParaRPr lang="en-US"/>
                    </a:p>
                  </a:txBody>
                  <a:tcPr anchor="ctr"/>
                </a:tc>
                <a:extLst>
                  <a:ext uri="{0D108BD9-81ED-4DB2-BD59-A6C34878D82A}">
                    <a16:rowId xmlns:a16="http://schemas.microsoft.com/office/drawing/2014/main" val="2418496753"/>
                  </a:ext>
                </a:extLst>
              </a:tr>
              <a:tr h="743126">
                <a:tc>
                  <a:txBody>
                    <a:bodyPr/>
                    <a:lstStyle/>
                    <a:p>
                      <a:pPr marL="0" lvl="0" indent="0" algn="ctr">
                        <a:lnSpc>
                          <a:spcPct val="100000"/>
                        </a:lnSpc>
                        <a:buNone/>
                      </a:pPr>
                      <a:r>
                        <a:rPr lang="en-US" sz="2400" b="0" i="0" u="none" strike="noStrike" baseline="0" noProof="0">
                          <a:solidFill>
                            <a:srgbClr val="000000"/>
                          </a:solidFill>
                          <a:latin typeface="Calibri"/>
                        </a:rPr>
                        <a:t>Reduced coder burden</a:t>
                      </a:r>
                    </a:p>
                  </a:txBody>
                  <a:tcPr anchor="ctr"/>
                </a:tc>
                <a:extLst>
                  <a:ext uri="{0D108BD9-81ED-4DB2-BD59-A6C34878D82A}">
                    <a16:rowId xmlns:a16="http://schemas.microsoft.com/office/drawing/2014/main" val="2957920452"/>
                  </a:ext>
                </a:extLst>
              </a:tr>
              <a:tr h="743126">
                <a:tc>
                  <a:txBody>
                    <a:bodyPr/>
                    <a:lstStyle/>
                    <a:p>
                      <a:pPr marL="0" lvl="0" indent="0" algn="ctr">
                        <a:lnSpc>
                          <a:spcPct val="100000"/>
                        </a:lnSpc>
                        <a:buNone/>
                      </a:pPr>
                      <a:r>
                        <a:rPr lang="en-US" sz="2400" b="0" i="0" u="none" strike="noStrike" baseline="0" noProof="0">
                          <a:solidFill>
                            <a:srgbClr val="000000"/>
                          </a:solidFill>
                          <a:latin typeface="Calibri"/>
                        </a:rPr>
                        <a:t>Rapid processing</a:t>
                      </a:r>
                    </a:p>
                  </a:txBody>
                  <a:tcPr anchor="ctr"/>
                </a:tc>
                <a:extLst>
                  <a:ext uri="{0D108BD9-81ED-4DB2-BD59-A6C34878D82A}">
                    <a16:rowId xmlns:a16="http://schemas.microsoft.com/office/drawing/2014/main" val="2593329379"/>
                  </a:ext>
                </a:extLst>
              </a:tr>
              <a:tr h="743126">
                <a:tc>
                  <a:txBody>
                    <a:bodyPr/>
                    <a:lstStyle/>
                    <a:p>
                      <a:pPr marL="0" lvl="0" indent="0" algn="ctr">
                        <a:lnSpc>
                          <a:spcPct val="100000"/>
                        </a:lnSpc>
                        <a:buNone/>
                      </a:pPr>
                      <a:r>
                        <a:rPr lang="en-US" sz="2400" b="0" i="0" u="none" strike="noStrike" baseline="0" noProof="0">
                          <a:solidFill>
                            <a:srgbClr val="000000"/>
                          </a:solidFill>
                          <a:latin typeface="Calibri"/>
                        </a:rPr>
                        <a:t>Consistent interpretation</a:t>
                      </a:r>
                    </a:p>
                  </a:txBody>
                  <a:tcPr anchor="ctr"/>
                </a:tc>
                <a:extLst>
                  <a:ext uri="{0D108BD9-81ED-4DB2-BD59-A6C34878D82A}">
                    <a16:rowId xmlns:a16="http://schemas.microsoft.com/office/drawing/2014/main" val="1423014968"/>
                  </a:ext>
                </a:extLst>
              </a:tr>
            </a:tbl>
          </a:graphicData>
        </a:graphic>
      </p:graphicFrame>
      <p:graphicFrame>
        <p:nvGraphicFramePr>
          <p:cNvPr id="8" name="Table 7">
            <a:extLst>
              <a:ext uri="{FF2B5EF4-FFF2-40B4-BE49-F238E27FC236}">
                <a16:creationId xmlns:a16="http://schemas.microsoft.com/office/drawing/2014/main" id="{2AB735A0-D9AD-8558-26F3-C9E6BCC326FF}"/>
              </a:ext>
            </a:extLst>
          </p:cNvPr>
          <p:cNvGraphicFramePr>
            <a:graphicFrameLocks noGrp="1"/>
          </p:cNvGraphicFramePr>
          <p:nvPr>
            <p:extLst>
              <p:ext uri="{D42A27DB-BD31-4B8C-83A1-F6EECF244321}">
                <p14:modId xmlns:p14="http://schemas.microsoft.com/office/powerpoint/2010/main" val="1704292841"/>
              </p:ext>
            </p:extLst>
          </p:nvPr>
        </p:nvGraphicFramePr>
        <p:xfrm>
          <a:off x="6274937" y="1834327"/>
          <a:ext cx="5407546" cy="2782671"/>
        </p:xfrm>
        <a:graphic>
          <a:graphicData uri="http://schemas.openxmlformats.org/drawingml/2006/table">
            <a:tbl>
              <a:tblPr firstRow="1" bandRow="1">
                <a:tableStyleId>{21E4AEA4-8DFA-4A89-87EB-49C32662AFE0}</a:tableStyleId>
              </a:tblPr>
              <a:tblGrid>
                <a:gridCol w="5407546">
                  <a:extLst>
                    <a:ext uri="{9D8B030D-6E8A-4147-A177-3AD203B41FA5}">
                      <a16:colId xmlns:a16="http://schemas.microsoft.com/office/drawing/2014/main" val="281937408"/>
                    </a:ext>
                  </a:extLst>
                </a:gridCol>
              </a:tblGrid>
              <a:tr h="5066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a:t>CHALLENGES</a:t>
                      </a:r>
                      <a:endParaRPr lang="en-US"/>
                    </a:p>
                  </a:txBody>
                  <a:tcPr anchor="ctr"/>
                </a:tc>
                <a:extLst>
                  <a:ext uri="{0D108BD9-81ED-4DB2-BD59-A6C34878D82A}">
                    <a16:rowId xmlns:a16="http://schemas.microsoft.com/office/drawing/2014/main" val="2418496753"/>
                  </a:ext>
                </a:extLst>
              </a:tr>
              <a:tr h="754837">
                <a:tc>
                  <a:txBody>
                    <a:bodyPr/>
                    <a:lstStyle/>
                    <a:p>
                      <a:pPr marL="0" lvl="0" indent="0" algn="ctr">
                        <a:lnSpc>
                          <a:spcPct val="100000"/>
                        </a:lnSpc>
                        <a:buNone/>
                      </a:pPr>
                      <a:r>
                        <a:rPr lang="en-US" sz="2400" b="0" i="0" u="none" strike="noStrike" baseline="0" noProof="0">
                          <a:solidFill>
                            <a:srgbClr val="000000"/>
                          </a:solidFill>
                          <a:latin typeface="Calibri"/>
                        </a:rPr>
                        <a:t>Loss of patient agency</a:t>
                      </a:r>
                      <a:r>
                        <a:rPr lang="en-US" sz="2400" b="0" i="0" u="none" strike="noStrike" baseline="30000" noProof="0">
                          <a:solidFill>
                            <a:srgbClr val="000000"/>
                          </a:solidFill>
                          <a:latin typeface="Calibri"/>
                        </a:rPr>
                        <a:t>1</a:t>
                      </a:r>
                      <a:endParaRPr lang="en-US" sz="1600" b="0" i="0" u="none" strike="noStrike" baseline="30000" noProof="0">
                        <a:solidFill>
                          <a:srgbClr val="000000"/>
                        </a:solidFill>
                        <a:latin typeface="Calibri"/>
                      </a:endParaRPr>
                    </a:p>
                  </a:txBody>
                  <a:tcPr anchor="ctr"/>
                </a:tc>
                <a:extLst>
                  <a:ext uri="{0D108BD9-81ED-4DB2-BD59-A6C34878D82A}">
                    <a16:rowId xmlns:a16="http://schemas.microsoft.com/office/drawing/2014/main" val="2957920452"/>
                  </a:ext>
                </a:extLst>
              </a:tr>
              <a:tr h="754837">
                <a:tc>
                  <a:txBody>
                    <a:bodyPr/>
                    <a:lstStyle/>
                    <a:p>
                      <a:pPr marL="0" lvl="0" indent="0" algn="ctr">
                        <a:lnSpc>
                          <a:spcPct val="100000"/>
                        </a:lnSpc>
                        <a:buNone/>
                      </a:pPr>
                      <a:r>
                        <a:rPr lang="en-US" sz="2400" b="0" i="0" u="none" strike="noStrike" baseline="0" noProof="0">
                          <a:solidFill>
                            <a:srgbClr val="000000"/>
                          </a:solidFill>
                          <a:latin typeface="Calibri"/>
                        </a:rPr>
                        <a:t>Missing emotional factors</a:t>
                      </a:r>
                      <a:r>
                        <a:rPr lang="en-US" sz="2400" b="0" i="0" u="none" strike="noStrike" baseline="30000" noProof="0">
                          <a:solidFill>
                            <a:srgbClr val="000000"/>
                          </a:solidFill>
                          <a:latin typeface="Calibri"/>
                        </a:rPr>
                        <a:t>2</a:t>
                      </a:r>
                      <a:endParaRPr lang="en-US" sz="1600" b="0" i="0" u="none" strike="noStrike" baseline="30000" noProof="0">
                        <a:solidFill>
                          <a:srgbClr val="000000"/>
                        </a:solidFill>
                        <a:latin typeface="Calibri"/>
                      </a:endParaRPr>
                    </a:p>
                  </a:txBody>
                  <a:tcPr anchor="ctr"/>
                </a:tc>
                <a:extLst>
                  <a:ext uri="{0D108BD9-81ED-4DB2-BD59-A6C34878D82A}">
                    <a16:rowId xmlns:a16="http://schemas.microsoft.com/office/drawing/2014/main" val="1239117041"/>
                  </a:ext>
                </a:extLst>
              </a:tr>
              <a:tr h="754837">
                <a:tc>
                  <a:txBody>
                    <a:bodyPr/>
                    <a:lstStyle/>
                    <a:p>
                      <a:pPr marL="0" lvl="0" indent="0" algn="ctr">
                        <a:lnSpc>
                          <a:spcPct val="100000"/>
                        </a:lnSpc>
                        <a:buNone/>
                      </a:pPr>
                      <a:r>
                        <a:rPr lang="en-US" sz="2400" b="0" i="0" u="none" strike="noStrike" baseline="0" noProof="0">
                          <a:solidFill>
                            <a:srgbClr val="000000"/>
                          </a:solidFill>
                          <a:latin typeface="Calibri"/>
                        </a:rPr>
                        <a:t>Context interpretation gaps</a:t>
                      </a:r>
                      <a:r>
                        <a:rPr lang="en-US" sz="2400" b="0" i="0" u="none" strike="noStrike" baseline="30000" noProof="0">
                          <a:solidFill>
                            <a:srgbClr val="000000"/>
                          </a:solidFill>
                          <a:latin typeface="Calibri"/>
                        </a:rPr>
                        <a:t>3</a:t>
                      </a:r>
                    </a:p>
                  </a:txBody>
                  <a:tcPr anchor="ctr"/>
                </a:tc>
                <a:extLst>
                  <a:ext uri="{0D108BD9-81ED-4DB2-BD59-A6C34878D82A}">
                    <a16:rowId xmlns:a16="http://schemas.microsoft.com/office/drawing/2014/main" val="3247619048"/>
                  </a:ext>
                </a:extLst>
              </a:tr>
            </a:tbl>
          </a:graphicData>
        </a:graphic>
      </p:graphicFrame>
      <p:sp>
        <p:nvSpPr>
          <p:cNvPr id="9" name="Rectangle 8">
            <a:extLst>
              <a:ext uri="{FF2B5EF4-FFF2-40B4-BE49-F238E27FC236}">
                <a16:creationId xmlns:a16="http://schemas.microsoft.com/office/drawing/2014/main" id="{11DA7D29-BFD3-E9C1-2028-2B6C717394FA}"/>
              </a:ext>
            </a:extLst>
          </p:cNvPr>
          <p:cNvSpPr/>
          <p:nvPr/>
        </p:nvSpPr>
        <p:spPr>
          <a:xfrm>
            <a:off x="527538" y="4725550"/>
            <a:ext cx="11157568" cy="1031364"/>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sz="3200" b="1"/>
              <a:t>Fundamental Shift: From internal patient evaluation to external algorithmic processing</a:t>
            </a:r>
            <a:endParaRPr lang="en-US" sz="3200" b="1">
              <a:ea typeface="Calibri"/>
              <a:cs typeface="Calibri"/>
            </a:endParaRPr>
          </a:p>
          <a:p>
            <a:pPr algn="ctr"/>
            <a:endParaRPr lang="en-US" sz="4000" b="1">
              <a:ea typeface="Calibri"/>
              <a:cs typeface="Calibri"/>
            </a:endParaRPr>
          </a:p>
        </p:txBody>
      </p:sp>
      <p:sp>
        <p:nvSpPr>
          <p:cNvPr id="4" name="TextBox 3">
            <a:extLst>
              <a:ext uri="{FF2B5EF4-FFF2-40B4-BE49-F238E27FC236}">
                <a16:creationId xmlns:a16="http://schemas.microsoft.com/office/drawing/2014/main" id="{E177FDB0-3ED3-5DCB-0E85-919AF6321756}"/>
              </a:ext>
            </a:extLst>
          </p:cNvPr>
          <p:cNvSpPr txBox="1"/>
          <p:nvPr/>
        </p:nvSpPr>
        <p:spPr>
          <a:xfrm>
            <a:off x="327713" y="6355328"/>
            <a:ext cx="737381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i="1">
                <a:ea typeface="Calibri" panose="020F0502020204030204"/>
                <a:cs typeface="Calibri" panose="020F0502020204030204"/>
              </a:rPr>
              <a:t>1. Tourangeau, 2000; 2. Conrad et al., 1998; 3. Brown &amp; Siegler, 1993</a:t>
            </a:r>
          </a:p>
        </p:txBody>
      </p:sp>
    </p:spTree>
    <p:extLst>
      <p:ext uri="{BB962C8B-B14F-4D97-AF65-F5344CB8AC3E}">
        <p14:creationId xmlns:p14="http://schemas.microsoft.com/office/powerpoint/2010/main" val="5798892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707F9-B70F-0C1A-2EA4-7FA0BA73AB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2A679F-F7A3-28B0-2605-80E56397ED49}"/>
              </a:ext>
            </a:extLst>
          </p:cNvPr>
          <p:cNvSpPr>
            <a:spLocks noGrp="1"/>
          </p:cNvSpPr>
          <p:nvPr>
            <p:ph type="title"/>
          </p:nvPr>
        </p:nvSpPr>
        <p:spPr/>
        <p:txBody>
          <a:bodyPr/>
          <a:lstStyle/>
          <a:p>
            <a:r>
              <a:rPr lang="en-US"/>
              <a:t>Stage 4: Response Transformation</a:t>
            </a:r>
          </a:p>
        </p:txBody>
      </p:sp>
      <p:graphicFrame>
        <p:nvGraphicFramePr>
          <p:cNvPr id="6" name="Table 5">
            <a:extLst>
              <a:ext uri="{FF2B5EF4-FFF2-40B4-BE49-F238E27FC236}">
                <a16:creationId xmlns:a16="http://schemas.microsoft.com/office/drawing/2014/main" id="{99209BDF-EF9E-B13F-0FB4-5D36D316C393}"/>
              </a:ext>
            </a:extLst>
          </p:cNvPr>
          <p:cNvGraphicFramePr>
            <a:graphicFrameLocks noGrp="1"/>
          </p:cNvGraphicFramePr>
          <p:nvPr>
            <p:extLst>
              <p:ext uri="{D42A27DB-BD31-4B8C-83A1-F6EECF244321}">
                <p14:modId xmlns:p14="http://schemas.microsoft.com/office/powerpoint/2010/main" val="202086408"/>
              </p:ext>
            </p:extLst>
          </p:nvPr>
        </p:nvGraphicFramePr>
        <p:xfrm>
          <a:off x="524302" y="1814788"/>
          <a:ext cx="5407546" cy="2727996"/>
        </p:xfrm>
        <a:graphic>
          <a:graphicData uri="http://schemas.openxmlformats.org/drawingml/2006/table">
            <a:tbl>
              <a:tblPr firstRow="1" bandRow="1">
                <a:tableStyleId>{93296810-A885-4BE3-A3E7-6D5BEEA58F35}</a:tableStyleId>
              </a:tblPr>
              <a:tblGrid>
                <a:gridCol w="5407546">
                  <a:extLst>
                    <a:ext uri="{9D8B030D-6E8A-4147-A177-3AD203B41FA5}">
                      <a16:colId xmlns:a16="http://schemas.microsoft.com/office/drawing/2014/main" val="281937408"/>
                    </a:ext>
                  </a:extLst>
                </a:gridCol>
              </a:tblGrid>
              <a:tr h="4456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a:t>BENEFITS</a:t>
                      </a:r>
                      <a:endParaRPr lang="en-US"/>
                    </a:p>
                  </a:txBody>
                  <a:tcPr anchor="ctr"/>
                </a:tc>
                <a:extLst>
                  <a:ext uri="{0D108BD9-81ED-4DB2-BD59-A6C34878D82A}">
                    <a16:rowId xmlns:a16="http://schemas.microsoft.com/office/drawing/2014/main" val="2418496753"/>
                  </a:ext>
                </a:extLst>
              </a:tr>
              <a:tr h="736612">
                <a:tc>
                  <a:txBody>
                    <a:bodyPr/>
                    <a:lstStyle/>
                    <a:p>
                      <a:pPr marL="0" lvl="0" indent="0" algn="ctr">
                        <a:lnSpc>
                          <a:spcPct val="100000"/>
                        </a:lnSpc>
                        <a:buNone/>
                      </a:pPr>
                      <a:r>
                        <a:rPr lang="en-US" sz="2400" b="0" i="0" u="none" strike="noStrike" baseline="0" noProof="0">
                          <a:solidFill>
                            <a:srgbClr val="000000"/>
                          </a:solidFill>
                          <a:latin typeface="Calibri"/>
                        </a:rPr>
                        <a:t>Rich narrative capture</a:t>
                      </a:r>
                    </a:p>
                  </a:txBody>
                  <a:tcPr anchor="ctr"/>
                </a:tc>
                <a:extLst>
                  <a:ext uri="{0D108BD9-81ED-4DB2-BD59-A6C34878D82A}">
                    <a16:rowId xmlns:a16="http://schemas.microsoft.com/office/drawing/2014/main" val="2957920452"/>
                  </a:ext>
                </a:extLst>
              </a:tr>
              <a:tr h="736612">
                <a:tc>
                  <a:txBody>
                    <a:bodyPr/>
                    <a:lstStyle/>
                    <a:p>
                      <a:pPr marL="0" lvl="0" indent="0" algn="ctr">
                        <a:lnSpc>
                          <a:spcPct val="100000"/>
                        </a:lnSpc>
                        <a:buNone/>
                      </a:pPr>
                      <a:r>
                        <a:rPr lang="en-US" sz="2400" b="0" i="0" u="none" strike="noStrike" baseline="0" noProof="0">
                          <a:solidFill>
                            <a:srgbClr val="000000"/>
                          </a:solidFill>
                          <a:latin typeface="Calibri"/>
                        </a:rPr>
                        <a:t>Reduced cognitive burden</a:t>
                      </a:r>
                      <a:endParaRPr lang="en-US"/>
                    </a:p>
                  </a:txBody>
                  <a:tcPr anchor="ctr"/>
                </a:tc>
                <a:extLst>
                  <a:ext uri="{0D108BD9-81ED-4DB2-BD59-A6C34878D82A}">
                    <a16:rowId xmlns:a16="http://schemas.microsoft.com/office/drawing/2014/main" val="2593329379"/>
                  </a:ext>
                </a:extLst>
              </a:tr>
              <a:tr h="736612">
                <a:tc>
                  <a:txBody>
                    <a:bodyPr/>
                    <a:lstStyle/>
                    <a:p>
                      <a:pPr marL="0" lvl="0" indent="0" algn="ctr">
                        <a:lnSpc>
                          <a:spcPct val="100000"/>
                        </a:lnSpc>
                        <a:buNone/>
                      </a:pPr>
                      <a:r>
                        <a:rPr lang="en-US" sz="2400" b="0" i="0" u="none" strike="noStrike" baseline="0" noProof="0">
                          <a:solidFill>
                            <a:srgbClr val="000000"/>
                          </a:solidFill>
                          <a:latin typeface="Calibri"/>
                        </a:rPr>
                        <a:t>Holistic health dimensions</a:t>
                      </a:r>
                    </a:p>
                  </a:txBody>
                  <a:tcPr anchor="ctr"/>
                </a:tc>
                <a:extLst>
                  <a:ext uri="{0D108BD9-81ED-4DB2-BD59-A6C34878D82A}">
                    <a16:rowId xmlns:a16="http://schemas.microsoft.com/office/drawing/2014/main" val="1423014968"/>
                  </a:ext>
                </a:extLst>
              </a:tr>
            </a:tbl>
          </a:graphicData>
        </a:graphic>
      </p:graphicFrame>
      <p:graphicFrame>
        <p:nvGraphicFramePr>
          <p:cNvPr id="8" name="Table 7">
            <a:extLst>
              <a:ext uri="{FF2B5EF4-FFF2-40B4-BE49-F238E27FC236}">
                <a16:creationId xmlns:a16="http://schemas.microsoft.com/office/drawing/2014/main" id="{07642F1B-2CB6-E4DF-F09A-04E633085829}"/>
              </a:ext>
            </a:extLst>
          </p:cNvPr>
          <p:cNvGraphicFramePr>
            <a:graphicFrameLocks noGrp="1"/>
          </p:cNvGraphicFramePr>
          <p:nvPr>
            <p:extLst>
              <p:ext uri="{D42A27DB-BD31-4B8C-83A1-F6EECF244321}">
                <p14:modId xmlns:p14="http://schemas.microsoft.com/office/powerpoint/2010/main" val="1406351509"/>
              </p:ext>
            </p:extLst>
          </p:nvPr>
        </p:nvGraphicFramePr>
        <p:xfrm>
          <a:off x="6274937" y="1814788"/>
          <a:ext cx="5407546" cy="2747538"/>
        </p:xfrm>
        <a:graphic>
          <a:graphicData uri="http://schemas.openxmlformats.org/drawingml/2006/table">
            <a:tbl>
              <a:tblPr firstRow="1" bandRow="1">
                <a:tableStyleId>{21E4AEA4-8DFA-4A89-87EB-49C32662AFE0}</a:tableStyleId>
              </a:tblPr>
              <a:tblGrid>
                <a:gridCol w="5407546">
                  <a:extLst>
                    <a:ext uri="{9D8B030D-6E8A-4147-A177-3AD203B41FA5}">
                      <a16:colId xmlns:a16="http://schemas.microsoft.com/office/drawing/2014/main" val="281937408"/>
                    </a:ext>
                  </a:extLst>
                </a:gridCol>
              </a:tblGrid>
              <a:tr h="44406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a:t>CHALLENGES</a:t>
                      </a:r>
                      <a:endParaRPr lang="en-US"/>
                    </a:p>
                  </a:txBody>
                  <a:tcPr anchor="ctr"/>
                </a:tc>
                <a:extLst>
                  <a:ext uri="{0D108BD9-81ED-4DB2-BD59-A6C34878D82A}">
                    <a16:rowId xmlns:a16="http://schemas.microsoft.com/office/drawing/2014/main" val="2418496753"/>
                  </a:ext>
                </a:extLst>
              </a:tr>
              <a:tr h="743126">
                <a:tc>
                  <a:txBody>
                    <a:bodyPr/>
                    <a:lstStyle/>
                    <a:p>
                      <a:pPr marL="0" lvl="0" indent="0" algn="ctr">
                        <a:lnSpc>
                          <a:spcPct val="100000"/>
                        </a:lnSpc>
                        <a:buNone/>
                      </a:pPr>
                      <a:r>
                        <a:rPr lang="en-US" sz="2400" b="0" i="0" u="none" strike="noStrike" baseline="0" noProof="0">
                          <a:solidFill>
                            <a:srgbClr val="000000"/>
                          </a:solidFill>
                        </a:rPr>
                        <a:t>Hybrid expression</a:t>
                      </a:r>
                      <a:r>
                        <a:rPr lang="en-US" sz="2400" b="0" i="0" u="none" strike="noStrike" baseline="30000" noProof="0">
                          <a:solidFill>
                            <a:srgbClr val="000000"/>
                          </a:solidFill>
                        </a:rPr>
                        <a:t>1</a:t>
                      </a:r>
                      <a:endParaRPr lang="en-US" baseline="30000"/>
                    </a:p>
                  </a:txBody>
                  <a:tcPr anchor="ctr"/>
                </a:tc>
                <a:extLst>
                  <a:ext uri="{0D108BD9-81ED-4DB2-BD59-A6C34878D82A}">
                    <a16:rowId xmlns:a16="http://schemas.microsoft.com/office/drawing/2014/main" val="2957920452"/>
                  </a:ext>
                </a:extLst>
              </a:tr>
              <a:tr h="743126">
                <a:tc>
                  <a:txBody>
                    <a:bodyPr/>
                    <a:lstStyle/>
                    <a:p>
                      <a:pPr marL="0" lvl="0" indent="0" algn="ctr">
                        <a:lnSpc>
                          <a:spcPct val="100000"/>
                        </a:lnSpc>
                        <a:buNone/>
                      </a:pPr>
                      <a:r>
                        <a:rPr lang="en-US" sz="2400" b="0" i="0" u="none" strike="noStrike" baseline="0" noProof="0">
                          <a:solidFill>
                            <a:srgbClr val="000000"/>
                          </a:solidFill>
                          <a:latin typeface="Calibri"/>
                        </a:rPr>
                        <a:t>Systematic response bias</a:t>
                      </a:r>
                      <a:r>
                        <a:rPr lang="en-US" sz="2400" b="0" i="0" u="none" strike="noStrike" baseline="30000" noProof="0">
                          <a:solidFill>
                            <a:srgbClr val="000000"/>
                          </a:solidFill>
                          <a:latin typeface="Calibri"/>
                        </a:rPr>
                        <a:t>2</a:t>
                      </a:r>
                      <a:endParaRPr lang="en-US" baseline="30000"/>
                    </a:p>
                  </a:txBody>
                  <a:tcPr anchor="ctr"/>
                </a:tc>
                <a:extLst>
                  <a:ext uri="{0D108BD9-81ED-4DB2-BD59-A6C34878D82A}">
                    <a16:rowId xmlns:a16="http://schemas.microsoft.com/office/drawing/2014/main" val="1239117041"/>
                  </a:ext>
                </a:extLst>
              </a:tr>
              <a:tr h="743126">
                <a:tc>
                  <a:txBody>
                    <a:bodyPr/>
                    <a:lstStyle/>
                    <a:p>
                      <a:pPr marL="0" lvl="0" indent="0" algn="ctr">
                        <a:lnSpc>
                          <a:spcPct val="100000"/>
                        </a:lnSpc>
                        <a:buNone/>
                      </a:pPr>
                      <a:r>
                        <a:rPr lang="en-US" sz="2400" b="0" i="0" u="none" strike="noStrike" baseline="0" noProof="0">
                          <a:solidFill>
                            <a:srgbClr val="000000"/>
                          </a:solidFill>
                          <a:latin typeface="Calibri"/>
                        </a:rPr>
                        <a:t>Measurement equivalence</a:t>
                      </a:r>
                      <a:r>
                        <a:rPr lang="en-US" sz="2400" b="0" i="0" u="none" strike="noStrike" baseline="30000" noProof="0">
                          <a:solidFill>
                            <a:srgbClr val="000000"/>
                          </a:solidFill>
                          <a:latin typeface="Calibri"/>
                        </a:rPr>
                        <a:t>3</a:t>
                      </a:r>
                    </a:p>
                  </a:txBody>
                  <a:tcPr anchor="ctr"/>
                </a:tc>
                <a:extLst>
                  <a:ext uri="{0D108BD9-81ED-4DB2-BD59-A6C34878D82A}">
                    <a16:rowId xmlns:a16="http://schemas.microsoft.com/office/drawing/2014/main" val="3247619048"/>
                  </a:ext>
                </a:extLst>
              </a:tr>
            </a:tbl>
          </a:graphicData>
        </a:graphic>
      </p:graphicFrame>
      <p:sp>
        <p:nvSpPr>
          <p:cNvPr id="9" name="Rectangle 8">
            <a:extLst>
              <a:ext uri="{FF2B5EF4-FFF2-40B4-BE49-F238E27FC236}">
                <a16:creationId xmlns:a16="http://schemas.microsoft.com/office/drawing/2014/main" id="{F76C1C22-CD9B-8E62-4873-657C9F4226D2}"/>
              </a:ext>
            </a:extLst>
          </p:cNvPr>
          <p:cNvSpPr/>
          <p:nvPr/>
        </p:nvSpPr>
        <p:spPr>
          <a:xfrm>
            <a:off x="527538" y="4881856"/>
            <a:ext cx="11157569" cy="71875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sz="3200" b="1">
                <a:solidFill>
                  <a:srgbClr val="FFFFFF"/>
                </a:solidFill>
                <a:ea typeface="+mn-lt"/>
                <a:cs typeface="+mn-lt"/>
              </a:rPr>
              <a:t>Core Issue: no longer measure pure patient expression </a:t>
            </a:r>
            <a:endParaRPr lang="en-US" sz="3200">
              <a:ea typeface="Calibri"/>
              <a:cs typeface="Calibri"/>
            </a:endParaRPr>
          </a:p>
        </p:txBody>
      </p:sp>
      <p:sp>
        <p:nvSpPr>
          <p:cNvPr id="7" name="TextBox 6">
            <a:extLst>
              <a:ext uri="{FF2B5EF4-FFF2-40B4-BE49-F238E27FC236}">
                <a16:creationId xmlns:a16="http://schemas.microsoft.com/office/drawing/2014/main" id="{1B38B19A-15E7-2BF6-CF08-AF6EE1A90590}"/>
              </a:ext>
            </a:extLst>
          </p:cNvPr>
          <p:cNvSpPr txBox="1"/>
          <p:nvPr/>
        </p:nvSpPr>
        <p:spPr>
          <a:xfrm>
            <a:off x="327713" y="6355328"/>
            <a:ext cx="737381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i="1">
                <a:ea typeface="Calibri" panose="020F0502020204030204"/>
                <a:cs typeface="Calibri" panose="020F0502020204030204"/>
              </a:rPr>
              <a:t>1. Suchman, 2007; 2. Lind et al., 2013; 3. Schwarz, 2010</a:t>
            </a:r>
          </a:p>
        </p:txBody>
      </p:sp>
    </p:spTree>
    <p:extLst>
      <p:ext uri="{BB962C8B-B14F-4D97-AF65-F5344CB8AC3E}">
        <p14:creationId xmlns:p14="http://schemas.microsoft.com/office/powerpoint/2010/main" val="9436062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71317-0D65-5285-C873-9F8BB2757BA5}"/>
              </a:ext>
            </a:extLst>
          </p:cNvPr>
          <p:cNvSpPr>
            <a:spLocks noGrp="1"/>
          </p:cNvSpPr>
          <p:nvPr>
            <p:ph type="title"/>
          </p:nvPr>
        </p:nvSpPr>
        <p:spPr/>
        <p:txBody>
          <a:bodyPr/>
          <a:lstStyle/>
          <a:p>
            <a:r>
              <a:rPr lang="en-US">
                <a:ea typeface="Calibri Light"/>
                <a:cs typeface="Calibri Light"/>
              </a:rPr>
              <a:t>Critical Trade-offs Summary</a:t>
            </a:r>
            <a:endParaRPr lang="en-US"/>
          </a:p>
        </p:txBody>
      </p:sp>
      <p:graphicFrame>
        <p:nvGraphicFramePr>
          <p:cNvPr id="3" name="Table 2">
            <a:extLst>
              <a:ext uri="{FF2B5EF4-FFF2-40B4-BE49-F238E27FC236}">
                <a16:creationId xmlns:a16="http://schemas.microsoft.com/office/drawing/2014/main" id="{2C93D709-460B-6840-8FAF-F0DF14374D9C}"/>
              </a:ext>
            </a:extLst>
          </p:cNvPr>
          <p:cNvGraphicFramePr>
            <a:graphicFrameLocks noGrp="1"/>
          </p:cNvGraphicFramePr>
          <p:nvPr>
            <p:extLst>
              <p:ext uri="{D42A27DB-BD31-4B8C-83A1-F6EECF244321}">
                <p14:modId xmlns:p14="http://schemas.microsoft.com/office/powerpoint/2010/main" val="4010292886"/>
              </p:ext>
            </p:extLst>
          </p:nvPr>
        </p:nvGraphicFramePr>
        <p:xfrm>
          <a:off x="1201615" y="1719384"/>
          <a:ext cx="9681936" cy="3576565"/>
        </p:xfrm>
        <a:graphic>
          <a:graphicData uri="http://schemas.openxmlformats.org/drawingml/2006/table">
            <a:tbl>
              <a:tblPr firstRow="1" bandRow="1">
                <a:tableStyleId>{74C1A8A3-306A-4EB7-A6B1-4F7E0EB9C5D6}</a:tableStyleId>
              </a:tblPr>
              <a:tblGrid>
                <a:gridCol w="3026685">
                  <a:extLst>
                    <a:ext uri="{9D8B030D-6E8A-4147-A177-3AD203B41FA5}">
                      <a16:colId xmlns:a16="http://schemas.microsoft.com/office/drawing/2014/main" val="2677326357"/>
                    </a:ext>
                  </a:extLst>
                </a:gridCol>
                <a:gridCol w="3314433">
                  <a:extLst>
                    <a:ext uri="{9D8B030D-6E8A-4147-A177-3AD203B41FA5}">
                      <a16:colId xmlns:a16="http://schemas.microsoft.com/office/drawing/2014/main" val="2416396726"/>
                    </a:ext>
                  </a:extLst>
                </a:gridCol>
                <a:gridCol w="3340818">
                  <a:extLst>
                    <a:ext uri="{9D8B030D-6E8A-4147-A177-3AD203B41FA5}">
                      <a16:colId xmlns:a16="http://schemas.microsoft.com/office/drawing/2014/main" val="1791728442"/>
                    </a:ext>
                  </a:extLst>
                </a:gridCol>
              </a:tblGrid>
              <a:tr h="715313">
                <a:tc>
                  <a:txBody>
                    <a:bodyPr/>
                    <a:lstStyle/>
                    <a:p>
                      <a:pPr algn="ctr"/>
                      <a:r>
                        <a:rPr lang="en-US" sz="4000"/>
                        <a:t>Stage</a:t>
                      </a:r>
                    </a:p>
                  </a:txBody>
                  <a:tcPr>
                    <a:lnL w="0">
                      <a:noFill/>
                    </a:lnL>
                    <a:lnR w="0">
                      <a:noFill/>
                    </a:lnR>
                    <a:lnT w="0">
                      <a:noFill/>
                    </a:lnT>
                    <a:lnB w="0">
                      <a:noFill/>
                    </a:lnB>
                  </a:tcPr>
                </a:tc>
                <a:tc>
                  <a:txBody>
                    <a:bodyPr/>
                    <a:lstStyle/>
                    <a:p>
                      <a:pPr algn="ctr"/>
                      <a:r>
                        <a:rPr lang="en-US" sz="4000"/>
                        <a:t>What We Gain</a:t>
                      </a:r>
                    </a:p>
                  </a:txBody>
                  <a:tcPr>
                    <a:lnL w="0">
                      <a:noFill/>
                    </a:lnL>
                    <a:lnR w="0">
                      <a:noFill/>
                    </a:lnR>
                    <a:lnT w="0">
                      <a:noFill/>
                    </a:lnT>
                    <a:lnB w="0">
                      <a:noFill/>
                    </a:lnB>
                  </a:tcPr>
                </a:tc>
                <a:tc>
                  <a:txBody>
                    <a:bodyPr/>
                    <a:lstStyle/>
                    <a:p>
                      <a:pPr algn="ctr"/>
                      <a:r>
                        <a:rPr lang="en-US" sz="4000"/>
                        <a:t>What We Lose</a:t>
                      </a:r>
                    </a:p>
                  </a:txBody>
                  <a:tcPr>
                    <a:lnL w="0">
                      <a:noFill/>
                    </a:lnL>
                    <a:lnR w="0">
                      <a:noFill/>
                    </a:lnR>
                    <a:lnT w="0">
                      <a:noFill/>
                    </a:lnT>
                    <a:lnB w="0">
                      <a:noFill/>
                    </a:lnB>
                  </a:tcPr>
                </a:tc>
                <a:extLst>
                  <a:ext uri="{0D108BD9-81ED-4DB2-BD59-A6C34878D82A}">
                    <a16:rowId xmlns:a16="http://schemas.microsoft.com/office/drawing/2014/main" val="3402407443"/>
                  </a:ext>
                </a:extLst>
              </a:tr>
              <a:tr h="715313">
                <a:tc>
                  <a:txBody>
                    <a:bodyPr/>
                    <a:lstStyle/>
                    <a:p>
                      <a:pPr algn="l"/>
                      <a:r>
                        <a:rPr lang="en-US" sz="2800"/>
                        <a:t>Comprehension</a:t>
                      </a:r>
                    </a:p>
                  </a:txBody>
                  <a:tcPr>
                    <a:lnL w="0">
                      <a:noFill/>
                    </a:lnL>
                    <a:lnR w="0">
                      <a:noFill/>
                    </a:lnR>
                    <a:lnT w="0">
                      <a:noFill/>
                    </a:lnT>
                    <a:lnB w="0">
                      <a:noFill/>
                    </a:lnB>
                  </a:tcPr>
                </a:tc>
                <a:tc>
                  <a:txBody>
                    <a:bodyPr/>
                    <a:lstStyle/>
                    <a:p>
                      <a:pPr algn="ctr"/>
                      <a:r>
                        <a:rPr lang="en-US" sz="2800"/>
                        <a:t>Accessibility</a:t>
                      </a:r>
                    </a:p>
                  </a:txBody>
                  <a:tcPr>
                    <a:lnL w="0">
                      <a:noFill/>
                    </a:lnL>
                    <a:lnR w="0">
                      <a:noFill/>
                    </a:lnR>
                    <a:lnT w="0">
                      <a:noFill/>
                    </a:lnT>
                    <a:lnB w="0">
                      <a:noFill/>
                    </a:lnB>
                  </a:tcPr>
                </a:tc>
                <a:tc>
                  <a:txBody>
                    <a:bodyPr/>
                    <a:lstStyle/>
                    <a:p>
                      <a:pPr algn="ctr"/>
                      <a:r>
                        <a:rPr lang="en-US" sz="2800"/>
                        <a:t>Standardization</a:t>
                      </a:r>
                    </a:p>
                  </a:txBody>
                  <a:tcPr>
                    <a:lnL w="0">
                      <a:noFill/>
                    </a:lnL>
                    <a:lnR w="0">
                      <a:noFill/>
                    </a:lnR>
                    <a:lnT w="0">
                      <a:noFill/>
                    </a:lnT>
                    <a:lnB w="0">
                      <a:noFill/>
                    </a:lnB>
                  </a:tcPr>
                </a:tc>
                <a:extLst>
                  <a:ext uri="{0D108BD9-81ED-4DB2-BD59-A6C34878D82A}">
                    <a16:rowId xmlns:a16="http://schemas.microsoft.com/office/drawing/2014/main" val="2570020028"/>
                  </a:ext>
                </a:extLst>
              </a:tr>
              <a:tr h="715313">
                <a:tc>
                  <a:txBody>
                    <a:bodyPr/>
                    <a:lstStyle/>
                    <a:p>
                      <a:pPr algn="l"/>
                      <a:r>
                        <a:rPr lang="en-US" sz="2800"/>
                        <a:t>Retrieval</a:t>
                      </a:r>
                    </a:p>
                  </a:txBody>
                  <a:tcPr>
                    <a:lnL w="0">
                      <a:noFill/>
                    </a:lnL>
                    <a:lnR w="0">
                      <a:noFill/>
                    </a:lnR>
                    <a:lnT w="0">
                      <a:noFill/>
                    </a:lnT>
                    <a:lnB w="0">
                      <a:noFill/>
                    </a:lnB>
                  </a:tcPr>
                </a:tc>
                <a:tc>
                  <a:txBody>
                    <a:bodyPr/>
                    <a:lstStyle/>
                    <a:p>
                      <a:pPr algn="ctr"/>
                      <a:r>
                        <a:rPr lang="en-US" sz="2800"/>
                        <a:t>Memory support</a:t>
                      </a:r>
                    </a:p>
                  </a:txBody>
                  <a:tcPr>
                    <a:lnL w="0">
                      <a:noFill/>
                    </a:lnL>
                    <a:lnR w="0">
                      <a:noFill/>
                    </a:lnR>
                    <a:lnT w="0">
                      <a:noFill/>
                    </a:lnT>
                    <a:lnB w="0">
                      <a:noFill/>
                    </a:lnB>
                  </a:tcPr>
                </a:tc>
                <a:tc>
                  <a:txBody>
                    <a:bodyPr/>
                    <a:lstStyle/>
                    <a:p>
                      <a:pPr algn="ctr"/>
                      <a:r>
                        <a:rPr lang="en-US" sz="2800"/>
                        <a:t>Authentic recall</a:t>
                      </a:r>
                    </a:p>
                  </a:txBody>
                  <a:tcPr>
                    <a:lnL w="0">
                      <a:noFill/>
                    </a:lnL>
                    <a:lnR w="0">
                      <a:noFill/>
                    </a:lnR>
                    <a:lnT w="0">
                      <a:noFill/>
                    </a:lnT>
                    <a:lnB w="0">
                      <a:noFill/>
                    </a:lnB>
                  </a:tcPr>
                </a:tc>
                <a:extLst>
                  <a:ext uri="{0D108BD9-81ED-4DB2-BD59-A6C34878D82A}">
                    <a16:rowId xmlns:a16="http://schemas.microsoft.com/office/drawing/2014/main" val="3447479605"/>
                  </a:ext>
                </a:extLst>
              </a:tr>
              <a:tr h="715313">
                <a:tc>
                  <a:txBody>
                    <a:bodyPr/>
                    <a:lstStyle/>
                    <a:p>
                      <a:pPr algn="l"/>
                      <a:r>
                        <a:rPr lang="en-US" sz="2800"/>
                        <a:t>Judgement</a:t>
                      </a:r>
                    </a:p>
                  </a:txBody>
                  <a:tcPr>
                    <a:lnL w="0">
                      <a:noFill/>
                    </a:lnL>
                    <a:lnR w="0">
                      <a:noFill/>
                    </a:lnR>
                    <a:lnT w="0">
                      <a:noFill/>
                    </a:lnT>
                    <a:lnB w="0">
                      <a:noFill/>
                    </a:lnB>
                  </a:tcPr>
                </a:tc>
                <a:tc>
                  <a:txBody>
                    <a:bodyPr/>
                    <a:lstStyle/>
                    <a:p>
                      <a:pPr algn="ctr"/>
                      <a:r>
                        <a:rPr lang="en-US" sz="2800"/>
                        <a:t>Efficiency</a:t>
                      </a:r>
                    </a:p>
                  </a:txBody>
                  <a:tcPr>
                    <a:lnL w="0">
                      <a:noFill/>
                    </a:lnL>
                    <a:lnR w="0">
                      <a:noFill/>
                    </a:lnR>
                    <a:lnT w="0">
                      <a:noFill/>
                    </a:lnT>
                    <a:lnB w="0">
                      <a:noFill/>
                    </a:lnB>
                  </a:tcPr>
                </a:tc>
                <a:tc>
                  <a:txBody>
                    <a:bodyPr/>
                    <a:lstStyle/>
                    <a:p>
                      <a:pPr algn="ctr"/>
                      <a:r>
                        <a:rPr lang="en-US" sz="2800"/>
                        <a:t>Patient agency</a:t>
                      </a:r>
                    </a:p>
                  </a:txBody>
                  <a:tcPr>
                    <a:lnL w="0">
                      <a:noFill/>
                    </a:lnL>
                    <a:lnR w="0">
                      <a:noFill/>
                    </a:lnR>
                    <a:lnT w="0">
                      <a:noFill/>
                    </a:lnT>
                    <a:lnB w="0">
                      <a:noFill/>
                    </a:lnB>
                  </a:tcPr>
                </a:tc>
                <a:extLst>
                  <a:ext uri="{0D108BD9-81ED-4DB2-BD59-A6C34878D82A}">
                    <a16:rowId xmlns:a16="http://schemas.microsoft.com/office/drawing/2014/main" val="734142169"/>
                  </a:ext>
                </a:extLst>
              </a:tr>
              <a:tr h="715313">
                <a:tc>
                  <a:txBody>
                    <a:bodyPr/>
                    <a:lstStyle/>
                    <a:p>
                      <a:pPr algn="l"/>
                      <a:r>
                        <a:rPr lang="en-US" sz="2800"/>
                        <a:t>Response</a:t>
                      </a:r>
                    </a:p>
                  </a:txBody>
                  <a:tcPr>
                    <a:lnL w="0">
                      <a:noFill/>
                    </a:lnL>
                    <a:lnR w="0">
                      <a:noFill/>
                    </a:lnR>
                    <a:lnT w="0">
                      <a:noFill/>
                    </a:lnT>
                    <a:lnB w="0">
                      <a:noFill/>
                    </a:lnB>
                  </a:tcPr>
                </a:tc>
                <a:tc>
                  <a:txBody>
                    <a:bodyPr/>
                    <a:lstStyle/>
                    <a:p>
                      <a:pPr algn="ctr"/>
                      <a:r>
                        <a:rPr lang="en-US" sz="2800"/>
                        <a:t>Rich data</a:t>
                      </a:r>
                    </a:p>
                  </a:txBody>
                  <a:tcPr>
                    <a:lnL w="0">
                      <a:noFill/>
                    </a:lnL>
                    <a:lnR w="0">
                      <a:noFill/>
                    </a:lnR>
                    <a:lnT w="0">
                      <a:noFill/>
                    </a:lnT>
                    <a:lnB w="0">
                      <a:noFill/>
                    </a:lnB>
                  </a:tcPr>
                </a:tc>
                <a:tc>
                  <a:txBody>
                    <a:bodyPr/>
                    <a:lstStyle/>
                    <a:p>
                      <a:pPr algn="ctr"/>
                      <a:r>
                        <a:rPr lang="en-US" sz="2800"/>
                        <a:t>Authentic voice</a:t>
                      </a:r>
                    </a:p>
                  </a:txBody>
                  <a:tcPr>
                    <a:lnL w="0">
                      <a:noFill/>
                    </a:lnL>
                    <a:lnR w="0">
                      <a:noFill/>
                    </a:lnR>
                    <a:lnT w="0">
                      <a:noFill/>
                    </a:lnT>
                    <a:lnB w="0">
                      <a:noFill/>
                    </a:lnB>
                  </a:tcPr>
                </a:tc>
                <a:extLst>
                  <a:ext uri="{0D108BD9-81ED-4DB2-BD59-A6C34878D82A}">
                    <a16:rowId xmlns:a16="http://schemas.microsoft.com/office/drawing/2014/main" val="1628725598"/>
                  </a:ext>
                </a:extLst>
              </a:tr>
            </a:tbl>
          </a:graphicData>
        </a:graphic>
      </p:graphicFrame>
    </p:spTree>
    <p:extLst>
      <p:ext uri="{BB962C8B-B14F-4D97-AF65-F5344CB8AC3E}">
        <p14:creationId xmlns:p14="http://schemas.microsoft.com/office/powerpoint/2010/main" val="35242387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960ED-AB7A-1611-ACF8-7EB2D95C3AF9}"/>
              </a:ext>
            </a:extLst>
          </p:cNvPr>
          <p:cNvSpPr>
            <a:spLocks noGrp="1"/>
          </p:cNvSpPr>
          <p:nvPr>
            <p:ph type="title"/>
          </p:nvPr>
        </p:nvSpPr>
        <p:spPr/>
        <p:txBody>
          <a:bodyPr/>
          <a:lstStyle/>
          <a:p>
            <a:r>
              <a:rPr lang="en-US">
                <a:ea typeface="Calibri Light"/>
                <a:cs typeface="Calibri Light"/>
              </a:rPr>
              <a:t>Implementation Framework</a:t>
            </a:r>
            <a:endParaRPr lang="en-US"/>
          </a:p>
        </p:txBody>
      </p:sp>
      <p:graphicFrame>
        <p:nvGraphicFramePr>
          <p:cNvPr id="4" name="Diagram 3">
            <a:extLst>
              <a:ext uri="{FF2B5EF4-FFF2-40B4-BE49-F238E27FC236}">
                <a16:creationId xmlns:a16="http://schemas.microsoft.com/office/drawing/2014/main" id="{67C46913-B493-2FA0-7DB8-E8515EF30FD8}"/>
              </a:ext>
            </a:extLst>
          </p:cNvPr>
          <p:cNvGraphicFramePr/>
          <p:nvPr>
            <p:extLst>
              <p:ext uri="{D42A27DB-BD31-4B8C-83A1-F6EECF244321}">
                <p14:modId xmlns:p14="http://schemas.microsoft.com/office/powerpoint/2010/main" val="1131430339"/>
              </p:ext>
            </p:extLst>
          </p:nvPr>
        </p:nvGraphicFramePr>
        <p:xfrm>
          <a:off x="639380" y="1495096"/>
          <a:ext cx="10729309" cy="45247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65463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90629-E2B5-107C-D74E-3B9E3CD075DC}"/>
              </a:ext>
            </a:extLst>
          </p:cNvPr>
          <p:cNvSpPr>
            <a:spLocks noGrp="1"/>
          </p:cNvSpPr>
          <p:nvPr>
            <p:ph type="title"/>
          </p:nvPr>
        </p:nvSpPr>
        <p:spPr/>
        <p:txBody>
          <a:bodyPr/>
          <a:lstStyle/>
          <a:p>
            <a:r>
              <a:rPr lang="en-US">
                <a:ea typeface="Calibri Light"/>
                <a:cs typeface="Calibri Light"/>
              </a:rPr>
              <a:t>Critical Recommendation: Patient Partnership</a:t>
            </a:r>
            <a:endParaRPr lang="en-US"/>
          </a:p>
        </p:txBody>
      </p:sp>
      <p:sp>
        <p:nvSpPr>
          <p:cNvPr id="3" name="Content Placeholder 2">
            <a:extLst>
              <a:ext uri="{FF2B5EF4-FFF2-40B4-BE49-F238E27FC236}">
                <a16:creationId xmlns:a16="http://schemas.microsoft.com/office/drawing/2014/main" id="{3BC4052D-5DB9-7EC8-A01A-C2624CD60DE7}"/>
              </a:ext>
            </a:extLst>
          </p:cNvPr>
          <p:cNvSpPr>
            <a:spLocks noGrp="1"/>
          </p:cNvSpPr>
          <p:nvPr>
            <p:ph idx="1"/>
          </p:nvPr>
        </p:nvSpPr>
        <p:spPr>
          <a:xfrm>
            <a:off x="838200" y="1688856"/>
            <a:ext cx="10515600" cy="3701489"/>
          </a:xfrm>
          <a:prstGeom prst="snip2SameRect">
            <a:avLst/>
          </a:prstGeom>
          <a:solidFill>
            <a:srgbClr val="00C45F">
              <a:alpha val="14000"/>
            </a:srgbClr>
          </a:solidFill>
        </p:spPr>
        <p:style>
          <a:lnRef idx="2">
            <a:schemeClr val="accent6"/>
          </a:lnRef>
          <a:fillRef idx="1">
            <a:schemeClr val="lt1"/>
          </a:fillRef>
          <a:effectRef idx="0">
            <a:schemeClr val="accent6"/>
          </a:effectRef>
          <a:fontRef idx="minor">
            <a:schemeClr val="dk1"/>
          </a:fontRef>
        </p:style>
        <p:txBody>
          <a:bodyPr vert="horz" lIns="91440" tIns="45720" rIns="91440" bIns="45720" rtlCol="0" anchor="t">
            <a:normAutofit/>
          </a:bodyPr>
          <a:lstStyle/>
          <a:p>
            <a:pPr marL="0" indent="0" algn="ctr">
              <a:buNone/>
            </a:pPr>
            <a:r>
              <a:rPr lang="en-US" sz="3200" b="1" dirty="0">
                <a:solidFill>
                  <a:schemeClr val="accent6">
                    <a:lumMod val="76000"/>
                  </a:schemeClr>
                </a:solidFill>
                <a:ea typeface="Calibri"/>
                <a:cs typeface="Calibri"/>
              </a:rPr>
              <a:t>Amplify, not replace, patient voices</a:t>
            </a:r>
          </a:p>
          <a:p>
            <a:r>
              <a:rPr lang="en-US" sz="3200" dirty="0">
                <a:ea typeface="Calibri"/>
                <a:cs typeface="Calibri"/>
              </a:rPr>
              <a:t>Patients as co-designers with decision making power</a:t>
            </a:r>
          </a:p>
          <a:p>
            <a:r>
              <a:rPr lang="en-US" sz="3200" dirty="0">
                <a:ea typeface="Calibri"/>
                <a:cs typeface="Calibri"/>
              </a:rPr>
              <a:t>Testing across diverse communities</a:t>
            </a:r>
          </a:p>
          <a:p>
            <a:r>
              <a:rPr lang="en-US" sz="3200" dirty="0">
                <a:ea typeface="Calibri"/>
                <a:cs typeface="Calibri"/>
              </a:rPr>
              <a:t>Feedback mechanisms shaping tool evolution</a:t>
            </a:r>
          </a:p>
          <a:p>
            <a:r>
              <a:rPr lang="en-US" sz="3200" dirty="0"/>
              <a:t>Transparency </a:t>
            </a:r>
            <a:r>
              <a:rPr lang="en-US" sz="3200" dirty="0">
                <a:ea typeface="Calibri"/>
                <a:cs typeface="Calibri"/>
              </a:rPr>
              <a:t>about response processing</a:t>
            </a:r>
          </a:p>
          <a:p>
            <a:endParaRPr lang="en-US">
              <a:ea typeface="Calibri"/>
              <a:cs typeface="Calibri"/>
            </a:endParaRPr>
          </a:p>
        </p:txBody>
      </p:sp>
    </p:spTree>
    <p:extLst>
      <p:ext uri="{BB962C8B-B14F-4D97-AF65-F5344CB8AC3E}">
        <p14:creationId xmlns:p14="http://schemas.microsoft.com/office/powerpoint/2010/main" val="6887558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94AD0-ED21-520C-17DF-241679F2EE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C37BFA-DB67-1E30-0A7C-492C5AF7A2D0}"/>
              </a:ext>
            </a:extLst>
          </p:cNvPr>
          <p:cNvSpPr>
            <a:spLocks noGrp="1"/>
          </p:cNvSpPr>
          <p:nvPr>
            <p:ph type="title"/>
          </p:nvPr>
        </p:nvSpPr>
        <p:spPr>
          <a:xfrm>
            <a:off x="838200" y="384663"/>
            <a:ext cx="10704471" cy="1104128"/>
          </a:xfrm>
        </p:spPr>
        <p:txBody>
          <a:bodyPr/>
          <a:lstStyle/>
          <a:p>
            <a:r>
              <a:rPr lang="en-US"/>
              <a:t>Conclusion</a:t>
            </a:r>
          </a:p>
        </p:txBody>
      </p:sp>
      <p:sp>
        <p:nvSpPr>
          <p:cNvPr id="28" name="Rectangle: Top Corners Snipped 27">
            <a:extLst>
              <a:ext uri="{FF2B5EF4-FFF2-40B4-BE49-F238E27FC236}">
                <a16:creationId xmlns:a16="http://schemas.microsoft.com/office/drawing/2014/main" id="{03AFCC60-F384-BB5E-31AE-A648F2A928DB}"/>
              </a:ext>
            </a:extLst>
          </p:cNvPr>
          <p:cNvSpPr/>
          <p:nvPr/>
        </p:nvSpPr>
        <p:spPr>
          <a:xfrm>
            <a:off x="1406769" y="1486698"/>
            <a:ext cx="9214160" cy="1317070"/>
          </a:xfrm>
          <a:prstGeom prst="snip2DiagRect">
            <a:avLst/>
          </a:prstGeom>
          <a:ln/>
        </p:spPr>
        <p:style>
          <a:lnRef idx="1">
            <a:schemeClr val="accent2"/>
          </a:lnRef>
          <a:fillRef idx="2">
            <a:schemeClr val="accent2"/>
          </a:fillRef>
          <a:effectRef idx="1">
            <a:schemeClr val="accent2"/>
          </a:effectRef>
          <a:fontRef idx="minor">
            <a:schemeClr val="dk1"/>
          </a:fontRef>
        </p:style>
        <p:txBody>
          <a:bodyPr lIns="91440" tIns="45720" rIns="91440" bIns="45720" rtlCol="0" anchor="ctr"/>
          <a:lstStyle/>
          <a:p>
            <a:pPr algn="ctr"/>
            <a:r>
              <a:rPr lang="en-US" sz="3200">
                <a:ea typeface="+mn-lt"/>
                <a:cs typeface="+mn-lt"/>
              </a:rPr>
              <a:t>LLM-PROMs offer genuine potential but require</a:t>
            </a:r>
            <a:endParaRPr lang="en-US" sz="3200">
              <a:ea typeface="Calibri"/>
              <a:cs typeface="Calibri"/>
            </a:endParaRPr>
          </a:p>
          <a:p>
            <a:pPr algn="ctr"/>
            <a:r>
              <a:rPr lang="en-US" sz="3200">
                <a:ea typeface="+mn-lt"/>
                <a:cs typeface="+mn-lt"/>
              </a:rPr>
              <a:t> fundamental rethinking of measurement validity </a:t>
            </a:r>
            <a:endParaRPr lang="en-US" sz="3200"/>
          </a:p>
        </p:txBody>
      </p:sp>
      <p:sp>
        <p:nvSpPr>
          <p:cNvPr id="29" name="TextBox 28">
            <a:extLst>
              <a:ext uri="{FF2B5EF4-FFF2-40B4-BE49-F238E27FC236}">
                <a16:creationId xmlns:a16="http://schemas.microsoft.com/office/drawing/2014/main" id="{9B9BA166-4D0C-2F8F-C929-70E2B3C89113}"/>
              </a:ext>
            </a:extLst>
          </p:cNvPr>
          <p:cNvSpPr txBox="1"/>
          <p:nvPr/>
        </p:nvSpPr>
        <p:spPr>
          <a:xfrm>
            <a:off x="1664322" y="3057799"/>
            <a:ext cx="7930659" cy="25237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ea typeface="+mn-lt"/>
                <a:cs typeface="+mn-lt"/>
              </a:rPr>
              <a:t>✓ Each cognitive stage fundamentally transformed</a:t>
            </a:r>
            <a:endParaRPr lang="en-US" sz="2800">
              <a:ea typeface="Calibri"/>
              <a:cs typeface="Calibri"/>
            </a:endParaRPr>
          </a:p>
          <a:p>
            <a:endParaRPr lang="en-US" sz="2800">
              <a:ea typeface="+mn-lt"/>
              <a:cs typeface="+mn-lt"/>
            </a:endParaRPr>
          </a:p>
          <a:p>
            <a:r>
              <a:rPr lang="en-US" sz="2800">
                <a:ea typeface="+mn-lt"/>
                <a:cs typeface="+mn-lt"/>
              </a:rPr>
              <a:t>✓ Real benefits coupled with serious validity threats</a:t>
            </a:r>
            <a:endParaRPr lang="en-US" sz="2800">
              <a:ea typeface="Calibri"/>
              <a:cs typeface="Calibri"/>
            </a:endParaRPr>
          </a:p>
          <a:p>
            <a:endParaRPr lang="en-US" sz="2800">
              <a:ea typeface="+mn-lt"/>
              <a:cs typeface="+mn-lt"/>
            </a:endParaRPr>
          </a:p>
          <a:p>
            <a:r>
              <a:rPr lang="en-US" sz="2800">
                <a:ea typeface="+mn-lt"/>
                <a:cs typeface="+mn-lt"/>
              </a:rPr>
              <a:t>✓ Patient partnership is non-negotiable for success</a:t>
            </a:r>
            <a:endParaRPr lang="en-US" sz="2800">
              <a:ea typeface="Calibri"/>
              <a:cs typeface="Calibri"/>
            </a:endParaRPr>
          </a:p>
          <a:p>
            <a:pPr algn="l"/>
            <a:endParaRPr lang="en-US">
              <a:ea typeface="Calibri"/>
              <a:cs typeface="Calibri"/>
            </a:endParaRPr>
          </a:p>
        </p:txBody>
      </p:sp>
    </p:spTree>
    <p:extLst>
      <p:ext uri="{BB962C8B-B14F-4D97-AF65-F5344CB8AC3E}">
        <p14:creationId xmlns:p14="http://schemas.microsoft.com/office/powerpoint/2010/main" val="21950025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75F874D0-54B2-B032-69A6-FAFC2689485C}"/>
              </a:ext>
            </a:extLst>
          </p:cNvPr>
          <p:cNvSpPr txBox="1">
            <a:spLocks/>
          </p:cNvSpPr>
          <p:nvPr/>
        </p:nvSpPr>
        <p:spPr>
          <a:xfrm>
            <a:off x="1184316" y="2187233"/>
            <a:ext cx="9144000" cy="33899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Thank You!</a:t>
            </a:r>
            <a:br>
              <a:rPr lang="en-US" dirty="0"/>
            </a:br>
            <a:br>
              <a:rPr lang="en-US" dirty="0"/>
            </a:br>
            <a:r>
              <a:rPr lang="en-US" dirty="0"/>
              <a:t>Questions?</a:t>
            </a:r>
          </a:p>
          <a:p>
            <a:pPr algn="ctr"/>
            <a:r>
              <a:rPr lang="en-US" sz="3600" dirty="0">
                <a:ea typeface="Calibri Light"/>
                <a:cs typeface="Calibri Light"/>
              </a:rPr>
              <a:t>Kevin Linares</a:t>
            </a:r>
          </a:p>
          <a:p>
            <a:pPr algn="ctr"/>
            <a:r>
              <a:rPr lang="en-US" sz="3600" dirty="0">
                <a:ea typeface="Calibri Light"/>
                <a:cs typeface="Calibri Light"/>
              </a:rPr>
              <a:t>Klinares@umd.edu</a:t>
            </a:r>
          </a:p>
        </p:txBody>
      </p:sp>
    </p:spTree>
    <p:extLst>
      <p:ext uri="{BB962C8B-B14F-4D97-AF65-F5344CB8AC3E}">
        <p14:creationId xmlns:p14="http://schemas.microsoft.com/office/powerpoint/2010/main" val="3128712418"/>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0946b611-becc-4114-b27d-4b5c7de2e906">
      <Terms xmlns="http://schemas.microsoft.com/office/infopath/2007/PartnerControls"/>
    </lcf76f155ced4ddcb4097134ff3c332f>
    <TaxCatchAll xmlns="09f92e87-2815-4bac-a242-dc9474a1dcae" xsi:nil="true"/>
    <SharedWithUsers xmlns="09f92e87-2815-4bac-a242-dc9474a1dcae">
      <UserInfo>
        <DisplayName>McCoy, Rozalina</DisplayName>
        <AccountId>43</AccountId>
        <AccountType/>
      </UserInfo>
      <UserInfo>
        <DisplayName>Davis, Esa</DisplayName>
        <AccountId>44</AccountId>
        <AccountType/>
      </UserInfo>
      <UserInfo>
        <DisplayName>Maldarelli, Mary</DisplayName>
        <AccountId>45</AccountId>
        <AccountType/>
      </UserInfo>
      <UserInfo>
        <DisplayName>Brown, Clayton</DisplayName>
        <AccountId>46</AccountId>
        <AccountType/>
      </UserInfo>
      <UserInfo>
        <DisplayName>Harris, Anthony</DisplayName>
        <AccountId>47</AccountId>
        <AccountType/>
      </UserInfo>
      <UserInfo>
        <DisplayName>Hu, Peter</DisplayName>
        <AccountId>48</AccountId>
        <AccountType/>
      </UserInfo>
      <UserInfo>
        <DisplayName>Rosenthal, Elana</DisplayName>
        <AccountId>49</AccountId>
        <AccountType/>
      </UserInfo>
      <UserInfo>
        <DisplayName>Stafford, Kristen</DisplayName>
        <AccountId>50</AccountId>
        <AccountType/>
      </UserInfo>
      <UserInfo>
        <DisplayName>Baghdadi, Jonathan</DisplayName>
        <AccountId>51</AccountId>
        <AccountType/>
      </UserInfo>
      <UserInfo>
        <DisplayName>Chen, Chixiang</DisplayName>
        <AccountId>52</AccountId>
        <AccountType/>
      </UserInfo>
      <UserInfo>
        <DisplayName>Goodman, Katherine</DisplayName>
        <AccountId>53</AccountId>
        <AccountType/>
      </UserInfo>
      <UserInfo>
        <DisplayName>Yang, Shiming</DisplayName>
        <AccountId>54</AccountId>
        <AccountType/>
      </UserInfo>
      <UserInfo>
        <DisplayName>Mahurkar, Anup</DisplayName>
        <AccountId>55</AccountId>
        <AccountType/>
      </UserInfo>
      <UserInfo>
        <DisplayName>Felix, Victor</DisplayName>
        <AccountId>56</AccountId>
        <AccountType/>
      </UserInfo>
      <UserInfo>
        <DisplayName>McGill, Denise</DisplayName>
        <AccountId>37</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6EE303BAA0F9D4592AFC7EDA34D7040" ma:contentTypeVersion="12" ma:contentTypeDescription="Create a new document." ma:contentTypeScope="" ma:versionID="0ee6c8b4f1cfa0ea9eeed37e4b45f748">
  <xsd:schema xmlns:xsd="http://www.w3.org/2001/XMLSchema" xmlns:xs="http://www.w3.org/2001/XMLSchema" xmlns:p="http://schemas.microsoft.com/office/2006/metadata/properties" xmlns:ns2="0946b611-becc-4114-b27d-4b5c7de2e906" xmlns:ns3="09f92e87-2815-4bac-a242-dc9474a1dcae" targetNamespace="http://schemas.microsoft.com/office/2006/metadata/properties" ma:root="true" ma:fieldsID="1cf9b5a51ba06e33c86b04109313303b" ns2:_="" ns3:_="">
    <xsd:import namespace="0946b611-becc-4114-b27d-4b5c7de2e906"/>
    <xsd:import namespace="09f92e87-2815-4bac-a242-dc9474a1dca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GenerationTime" minOccurs="0"/>
                <xsd:element ref="ns2:MediaServiceEventHashCode" minOccurs="0"/>
                <xsd:element ref="ns2:MediaServiceDateTaken" minOccurs="0"/>
                <xsd:element ref="ns2:MediaServiceOCR"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46b611-becc-4114-b27d-4b5c7de2e9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25e2b2fc-0517-44cc-85bc-21d743cacc9b"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f92e87-2815-4bac-a242-dc9474a1dca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bf7748d2-ecad-47ba-9e16-5d8ae76f5524}" ma:internalName="TaxCatchAll" ma:showField="CatchAllData" ma:web="09f92e87-2815-4bac-a242-dc9474a1dca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8BA5B3D-E709-45D7-9843-22EBF70381E1}">
  <ds:schemaRefs>
    <ds:schemaRef ds:uri="http://schemas.microsoft.com/sharepoint/v3/contenttype/forms"/>
  </ds:schemaRefs>
</ds:datastoreItem>
</file>

<file path=customXml/itemProps2.xml><?xml version="1.0" encoding="utf-8"?>
<ds:datastoreItem xmlns:ds="http://schemas.openxmlformats.org/officeDocument/2006/customXml" ds:itemID="{02D06F57-3FF5-4569-9D60-6E43A01160C8}">
  <ds:schemaRefs>
    <ds:schemaRef ds:uri="0946b611-becc-4114-b27d-4b5c7de2e906"/>
    <ds:schemaRef ds:uri="09f92e87-2815-4bac-a242-dc9474a1dca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0118AA3-F164-43E4-98CB-31BAA7DB05A7}">
  <ds:schemaRefs>
    <ds:schemaRef ds:uri="0946b611-becc-4114-b27d-4b5c7de2e906"/>
    <ds:schemaRef ds:uri="09f92e87-2815-4bac-a242-dc9474a1dca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717009a6-20de-461a-8894-0312a395cac9}" enabled="0" method="" siteId="{717009a6-20de-461a-8894-0312a395cac9}" removed="1"/>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16</Slides>
  <Notes>16</Notes>
  <HiddenSlides>0</HiddenSlides>
  <ScaleCrop>false</ScaleCrop>
  <HeadingPairs>
    <vt:vector size="4" baseType="variant">
      <vt:variant>
        <vt:lpstr>Theme</vt:lpstr>
      </vt:variant>
      <vt:variant>
        <vt:i4>3</vt:i4>
      </vt:variant>
      <vt:variant>
        <vt:lpstr>Slide Titles</vt:lpstr>
      </vt:variant>
      <vt:variant>
        <vt:i4>16</vt:i4>
      </vt:variant>
    </vt:vector>
  </HeadingPairs>
  <TitlesOfParts>
    <vt:vector size="19" baseType="lpstr">
      <vt:lpstr>Custom Design</vt:lpstr>
      <vt:lpstr>1_Custom Design</vt:lpstr>
      <vt:lpstr>2_Custom Design</vt:lpstr>
      <vt:lpstr>Cognitive Mind Meets the Artificial:  How AI Reshapes Survey Research Through  The Lens of Response Process Theory</vt:lpstr>
      <vt:lpstr>The Challenge We Face in Health Surveys</vt:lpstr>
      <vt:lpstr>Learning Objectives</vt:lpstr>
      <vt:lpstr>What are Large Language Models? </vt:lpstr>
      <vt:lpstr>LLM Application in Survey Research</vt:lpstr>
      <vt:lpstr>Tourangeau’s (2000) Cognitive Response Process Framework</vt:lpstr>
      <vt:lpstr>Theoretical Analysis Approach</vt:lpstr>
      <vt:lpstr>Stage 1: Comprehension Transformation</vt:lpstr>
      <vt:lpstr>Stage 2: Retrieval Transformation</vt:lpstr>
      <vt:lpstr>Stage 3: Judgement Transformation</vt:lpstr>
      <vt:lpstr>Stage 4: Response Transformation</vt:lpstr>
      <vt:lpstr>Critical Trade-offs Summary</vt:lpstr>
      <vt:lpstr>Implementation Framework</vt:lpstr>
      <vt:lpstr>Critical Recommendation: Patient Partnership</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Bower, Julie</dc:creator>
  <cp:revision>80</cp:revision>
  <dcterms:created xsi:type="dcterms:W3CDTF">2023-07-27T15:43:51Z</dcterms:created>
  <dcterms:modified xsi:type="dcterms:W3CDTF">2025-09-13T20:15:09Z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0x010100A6EE303BAA0F9D4592AFC7EDA34D7040</vt:lpwstr>
  </property>
</Properties>
</file>